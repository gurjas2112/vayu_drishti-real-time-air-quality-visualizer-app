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67" r:id="rId3"/>
    <p:sldId id="274" r:id="rId4"/>
    <p:sldId id="259" r:id="rId5"/>
    <p:sldId id="268" r:id="rId6"/>
    <p:sldId id="269" r:id="rId7"/>
    <p:sldId id="271" r:id="rId8"/>
    <p:sldId id="275" r:id="rId9"/>
    <p:sldId id="257" r:id="rId10"/>
    <p:sldId id="276" r:id="rId11"/>
    <p:sldId id="277" r:id="rId12"/>
    <p:sldId id="278" r:id="rId13"/>
    <p:sldId id="279" r:id="rId14"/>
    <p:sldId id="280" r:id="rId15"/>
    <p:sldId id="285" r:id="rId16"/>
    <p:sldId id="272" r:id="rId17"/>
    <p:sldId id="281" r:id="rId18"/>
    <p:sldId id="282" r:id="rId19"/>
    <p:sldId id="283" r:id="rId20"/>
    <p:sldId id="284" r:id="rId21"/>
    <p:sldId id="273" r:id="rId22"/>
    <p:sldId id="286" r:id="rId23"/>
    <p:sldId id="287" r:id="rId24"/>
    <p:sldId id="288" r:id="rId25"/>
    <p:sldId id="289" r:id="rId26"/>
    <p:sldId id="290" r:id="rId27"/>
    <p:sldId id="270" r:id="rId28"/>
  </p:sldIdLst>
  <p:sldSz cx="12192000" cy="6858000"/>
  <p:notesSz cx="6858000" cy="9144000"/>
  <p:embeddedFontLst>
    <p:embeddedFont>
      <p:font typeface="Arial Bold" panose="020B0704020202020204" pitchFamily="34" charset="0"/>
      <p:bold r:id="rId30"/>
    </p:embeddedFont>
    <p:embeddedFont>
      <p:font typeface="Century Gothic" panose="020B0502020202020204" pitchFamily="34" charset="0"/>
      <p:regular r:id="rId31"/>
      <p:bold r:id="rId32"/>
      <p:italic r:id="rId33"/>
      <p:boldItalic r:id="rId34"/>
    </p:embeddedFont>
    <p:embeddedFont>
      <p:font typeface="Wingdings 3" panose="05040102010807070707" pitchFamily="18" charset="2"/>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000000"/>
          </p15:clr>
        </p15:guide>
        <p15:guide id="2" pos="3869"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showGuides="1">
      <p:cViewPr varScale="1">
        <p:scale>
          <a:sx n="90" d="100"/>
          <a:sy n="90" d="100"/>
        </p:scale>
        <p:origin x="398" y="67"/>
      </p:cViewPr>
      <p:guideLst>
        <p:guide orient="horz" pos="2160"/>
        <p:guide pos="386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4529540"/>
            <a:ext cx="779767" cy="365125"/>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11" name="Slide Number Placeholder 5"/>
          <p:cNvSpPr>
            <a:spLocks noGrp="1"/>
          </p:cNvSpPr>
          <p:nvPr>
            <p:ph type="sldNum" sz="quarter" idx="12"/>
          </p:nvPr>
        </p:nvSpPr>
        <p:spPr>
          <a:xfrm>
            <a:off x="531812" y="787782"/>
            <a:ext cx="779767" cy="365125"/>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panose="020B0604020202020204"/>
              </a:rPr>
              <a:t>”</a:t>
            </a: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hyperlink" Target="https://drive.google.com/file/d/1uaLhwyT1dVbLdGUDsadEisyZ2833nuiq/view?usp=sharing" TargetMode="External"/><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Gurjas2112/Vayu_Drishti-Real-Time-Air-Quality-Visualizer-App" TargetMode="External"/><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8" Type="http://schemas.openxmlformats.org/officeDocument/2006/relationships/hyperlink" Target="https://docs.streamlit.io/" TargetMode="External"/><Relationship Id="rId3" Type="http://schemas.openxmlformats.org/officeDocument/2006/relationships/hyperlink" Target="https://disc.gsfc.nasa.gov/datasets/M2T1NXAER_5.12.4" TargetMode="External"/><Relationship Id="rId7" Type="http://schemas.openxmlformats.org/officeDocument/2006/relationships/hyperlink" Target="https://doi.org/10.1016/j.envsoft.2023.105652" TargetMode="External"/><Relationship Id="rId2" Type="http://schemas.openxmlformats.org/officeDocument/2006/relationships/hyperlink" Target="https://cpcb.nic.in/" TargetMode="External"/><Relationship Id="rId1" Type="http://schemas.openxmlformats.org/officeDocument/2006/relationships/slideLayout" Target="../slideLayouts/slideLayout4.xml"/><Relationship Id="rId6" Type="http://schemas.openxmlformats.org/officeDocument/2006/relationships/hyperlink" Target="https://app.cpcbccr.com/AQI_India/" TargetMode="External"/><Relationship Id="rId5" Type="http://schemas.openxmlformats.org/officeDocument/2006/relationships/hyperlink" Target="https://doi.org/10.1023/A:1010933404324" TargetMode="External"/><Relationship Id="rId4" Type="http://schemas.openxmlformats.org/officeDocument/2006/relationships/hyperlink" Target="https://mosdac.gov.in/" TargetMode="External"/><Relationship Id="rId9" Type="http://schemas.openxmlformats.org/officeDocument/2006/relationships/hyperlink" Target="https://openaq.org/"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drive.google.com/file/d/1uaLhwyT1dVbLdGUDsadEisyZ2833nuiq/view?usp=sharing" TargetMode="External"/><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26.jpg"/><Relationship Id="rId4" Type="http://schemas.openxmlformats.org/officeDocument/2006/relationships/image" Target="../media/image2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8"/>
          <p:cNvSpPr/>
          <p:nvPr/>
        </p:nvSpPr>
        <p:spPr>
          <a:xfrm>
            <a:off x="0" y="0"/>
            <a:ext cx="12192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170" name="Google Shape;170;p18" descr="Modern 2017 logo"/>
          <p:cNvPicPr preferRelativeResize="0"/>
          <p:nvPr/>
        </p:nvPicPr>
        <p:blipFill rotWithShape="1">
          <a:blip r:embed="rId3"/>
          <a:srcRect/>
          <a:stretch>
            <a:fillRect/>
          </a:stretch>
        </p:blipFill>
        <p:spPr>
          <a:xfrm>
            <a:off x="2751666" y="33468"/>
            <a:ext cx="1520888" cy="1465132"/>
          </a:xfrm>
          <a:prstGeom prst="rect">
            <a:avLst/>
          </a:prstGeom>
          <a:noFill/>
          <a:ln>
            <a:noFill/>
          </a:ln>
        </p:spPr>
      </p:pic>
      <p:sp>
        <p:nvSpPr>
          <p:cNvPr id="171" name="Google Shape;171;p18"/>
          <p:cNvSpPr/>
          <p:nvPr/>
        </p:nvSpPr>
        <p:spPr>
          <a:xfrm>
            <a:off x="4783666" y="33468"/>
            <a:ext cx="5757334" cy="165762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b="1" dirty="0">
                <a:solidFill>
                  <a:srgbClr val="002060"/>
                </a:solidFill>
                <a:latin typeface="Times New Roman" panose="02020603050405020304"/>
                <a:ea typeface="Times New Roman" panose="02020603050405020304"/>
                <a:cs typeface="Times New Roman" panose="02020603050405020304"/>
                <a:sym typeface="Times New Roman" panose="02020603050405020304"/>
              </a:rPr>
              <a:t>Progressive Education Society's</a:t>
            </a:r>
            <a:br>
              <a:rPr lang="en-US" sz="10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2800" b="1" i="0" u="none" strike="noStrike" cap="none"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Modern College of Engineering</a:t>
            </a:r>
            <a:r>
              <a:rPr lang="en-US" sz="1800" b="1" i="0" u="none" strike="noStrike" cap="none" dirty="0">
                <a:solidFill>
                  <a:srgbClr val="C00000"/>
                </a:solidFill>
                <a:latin typeface="Times New Roman" panose="02020603050405020304"/>
                <a:ea typeface="Times New Roman" panose="02020603050405020304"/>
                <a:cs typeface="Times New Roman" panose="02020603050405020304"/>
                <a:sym typeface="Times New Roman" panose="02020603050405020304"/>
              </a:rPr>
              <a:t>, </a:t>
            </a:r>
            <a:br>
              <a:rPr lang="en-US" sz="1800" b="1" i="0" u="none" strike="noStrike" cap="none" dirty="0">
                <a:solidFill>
                  <a:srgbClr val="C00000"/>
                </a:solidFill>
                <a:latin typeface="Times New Roman" panose="02020603050405020304"/>
                <a:ea typeface="Times New Roman" panose="02020603050405020304"/>
                <a:cs typeface="Times New Roman" panose="02020603050405020304"/>
                <a:sym typeface="Times New Roman" panose="02020603050405020304"/>
              </a:rPr>
            </a:br>
            <a:r>
              <a:rPr 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Pune-5</a:t>
            </a:r>
          </a:p>
          <a:p>
            <a:pPr marL="0" marR="0" lvl="0" indent="0" algn="ctr" rtl="0">
              <a:spcBef>
                <a:spcPts val="0"/>
              </a:spcBef>
              <a:spcAft>
                <a:spcPts val="0"/>
              </a:spcAft>
              <a:buNone/>
            </a:pPr>
            <a:r>
              <a:rPr lang="en-US" altLang="en-US" sz="11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2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(An Autonomous Institute Affiliated to Savitribai Phule Pune University)</a:t>
            </a:r>
            <a:br>
              <a:rPr lang="en-US" sz="11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27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Department of MCA </a:t>
            </a:r>
            <a:br>
              <a:rPr lang="en-US" sz="32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800" dirty="0">
              <a:solidFill>
                <a:schemeClr val="dk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172" name="Google Shape;172;p18"/>
          <p:cNvSpPr/>
          <p:nvPr/>
        </p:nvSpPr>
        <p:spPr>
          <a:xfrm>
            <a:off x="4013201" y="1831644"/>
            <a:ext cx="6874932" cy="4106876"/>
          </a:xfrm>
          <a:prstGeom prst="rect">
            <a:avLst/>
          </a:prstGeom>
          <a:noFill/>
          <a:ln w="381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Research Project Presentation</a:t>
            </a:r>
            <a:endParaRPr sz="1800" dirty="0"/>
          </a:p>
          <a:p>
            <a:pPr marL="0" marR="0" lvl="0" indent="0" algn="ctr" rtl="0">
              <a:spcBef>
                <a:spcPts val="0"/>
              </a:spcBef>
              <a:spcAft>
                <a:spcPts val="0"/>
              </a:spcAft>
              <a:buNone/>
            </a:pPr>
            <a:r>
              <a:rPr 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On</a:t>
            </a:r>
          </a:p>
          <a:p>
            <a:pPr marL="0" marR="0" lvl="0" indent="0" algn="ctr" rtl="0">
              <a:spcBef>
                <a:spcPts val="0"/>
              </a:spcBef>
              <a:spcAft>
                <a:spcPts val="0"/>
              </a:spcAft>
              <a:buNone/>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Vayu Drishti :An Air Quality Visualizer and Forecasting App</a:t>
            </a:r>
            <a:endParaRPr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By</a:t>
            </a:r>
          </a:p>
          <a:p>
            <a:pPr marL="0" marR="0" lvl="0" indent="0" algn="ctr" rtl="0">
              <a:spcBef>
                <a:spcPts val="0"/>
              </a:spcBef>
              <a:spcAft>
                <a:spcPts val="0"/>
              </a:spcAft>
              <a:buNone/>
            </a:pPr>
            <a:endPar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r>
              <a:rPr lang="en-US" alt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Team Members: </a:t>
            </a:r>
          </a:p>
          <a:p>
            <a:pPr algn="ctr"/>
            <a:r>
              <a:rPr lang="en-US" alt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Roll no </a:t>
            </a:r>
            <a:r>
              <a:rPr lang="en-US" alt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52152 , </a:t>
            </a:r>
            <a:r>
              <a:rPr lang="en-US" alt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Student Name</a:t>
            </a:r>
            <a:r>
              <a:rPr lang="en-US" alt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Ritwik </a:t>
            </a:r>
            <a:r>
              <a:rPr lang="en-US" altLang="en-US" sz="18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Rahut</a:t>
            </a:r>
            <a:endParaRPr lang="en-US" alt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r>
              <a:rPr 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Roll no</a:t>
            </a: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52120,   </a:t>
            </a:r>
            <a:r>
              <a:rPr 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Student Name</a:t>
            </a: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Gurjas Singh Gandhi </a:t>
            </a:r>
          </a:p>
          <a:p>
            <a:pPr marL="0" marR="0" lvl="0" indent="0" algn="ctr" rtl="0">
              <a:spcBef>
                <a:spcPts val="0"/>
              </a:spcBef>
              <a:spcAft>
                <a:spcPts val="0"/>
              </a:spcAft>
              <a:buNone/>
            </a:pPr>
            <a:r>
              <a:rPr lang="en-US" alt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Roll no </a:t>
            </a:r>
            <a:r>
              <a:rPr lang="en-US" alt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52102 , </a:t>
            </a:r>
            <a:r>
              <a:rPr lang="en-US" alt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Student Name</a:t>
            </a:r>
            <a:r>
              <a:rPr lang="en-US" alt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Nikita </a:t>
            </a:r>
            <a:r>
              <a:rPr lang="en-US" altLang="en-US" sz="18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Bachute</a:t>
            </a:r>
            <a:endParaRPr lang="en-US" alt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0" algn="ctr"/>
            <a:r>
              <a:rPr lang="en-US" alt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Roll no </a:t>
            </a:r>
            <a:r>
              <a:rPr lang="en-US" alt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52119 , </a:t>
            </a:r>
            <a:r>
              <a:rPr lang="en-US" alt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Student Name</a:t>
            </a:r>
            <a:r>
              <a:rPr lang="en-US" alt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 Pranav </a:t>
            </a:r>
            <a:r>
              <a:rPr lang="en-US" altLang="en-US" sz="1800" dirty="0" err="1">
                <a:solidFill>
                  <a:schemeClr val="dk1"/>
                </a:solidFill>
                <a:latin typeface="Times New Roman" panose="02020603050405020304"/>
                <a:ea typeface="Times New Roman" panose="02020603050405020304"/>
                <a:cs typeface="Times New Roman" panose="02020603050405020304"/>
                <a:sym typeface="Times New Roman" panose="02020603050405020304"/>
              </a:rPr>
              <a:t>Gadewar</a:t>
            </a:r>
            <a:endParaRPr lang="en-US" alt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0" algn="ctr"/>
            <a:endParaRPr lang="en-US" alt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lvl="0" algn="ctr"/>
            <a:r>
              <a:rPr lang="en-US" sz="1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Under the Guidance of : </a:t>
            </a:r>
          </a:p>
          <a:p>
            <a:pPr lvl="0" algn="ctr"/>
            <a:r>
              <a:rPr lang="en-US"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Dr. Prakash Kene</a:t>
            </a:r>
          </a:p>
        </p:txBody>
      </p:sp>
      <p:sp>
        <p:nvSpPr>
          <p:cNvPr id="174" name="Google Shape;174;p18"/>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lang="en-US"/>
          </a:p>
        </p:txBody>
      </p:sp>
      <p:sp>
        <p:nvSpPr>
          <p:cNvPr id="175" name="Google Shape;175;p18"/>
          <p:cNvSpPr/>
          <p:nvPr/>
        </p:nvSpPr>
        <p:spPr>
          <a:xfrm>
            <a:off x="1674514" y="6123093"/>
            <a:ext cx="10352405" cy="438785"/>
          </a:xfrm>
          <a:prstGeom prst="roundRect">
            <a:avLst>
              <a:gd name="adj" fmla="val 16667"/>
            </a:avLst>
          </a:prstGeom>
          <a:solidFill>
            <a:schemeClr val="accent1"/>
          </a:solidFill>
          <a:ln w="15875" cap="rnd" cmpd="sng">
            <a:solidFill>
              <a:srgbClr val="78230B"/>
            </a:solidFill>
            <a:prstDash val="solid"/>
            <a:round/>
            <a:headEnd type="none" w="sm" len="sm"/>
            <a:tailEnd type="none" w="sm" len="sm"/>
          </a:ln>
        </p:spPr>
        <p:txBody>
          <a:bodyPr spcFirstLastPara="1" wrap="square" lIns="91425" tIns="45700" rIns="91425" bIns="45700" anchor="ctr" anchorCtr="0">
            <a:noAutofit/>
          </a:bodyPr>
          <a:lstStyle/>
          <a:p>
            <a:pPr lvl="0"/>
            <a:r>
              <a:rPr lang="en-US" sz="1800" dirty="0">
                <a:latin typeface="Times New Roman" panose="02020603050405020304" pitchFamily="18" charset="0"/>
                <a:cs typeface="Times New Roman" panose="02020603050405020304" pitchFamily="18" charset="0"/>
              </a:rPr>
              <a:t>PES MODERN COLLEGE OF ENGINEERING, MCA DEPARTMENT, A.Y. 2025-26  SYMCA TERM 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505201" y="0"/>
            <a:ext cx="7749010" cy="636439"/>
          </a:xfrm>
        </p:spPr>
        <p:txBody>
          <a:bodyPr>
            <a:normAutofit fontScale="90000"/>
          </a:bodyPr>
          <a:lstStyle/>
          <a:p>
            <a:r>
              <a:rPr lang="en-US" b="1" dirty="0"/>
              <a:t>                       </a:t>
            </a:r>
            <a:br>
              <a:rPr lang="en-US" b="1" dirty="0"/>
            </a:br>
            <a:r>
              <a:rPr lang="en-US" b="1" dirty="0"/>
              <a:t>					     </a:t>
            </a:r>
            <a:r>
              <a:rPr lang="en-US" b="1" dirty="0">
                <a:latin typeface="Times New Roman" panose="02020603050405020304" pitchFamily="18" charset="0"/>
                <a:cs typeface="Times New Roman" panose="02020603050405020304" pitchFamily="18" charset="0"/>
              </a:rPr>
              <a:t> Contents</a:t>
            </a:r>
          </a:p>
        </p:txBody>
      </p:sp>
      <p:sp>
        <p:nvSpPr>
          <p:cNvPr id="3" name="Slide Number Placeholder 2"/>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graphicFrame>
        <p:nvGraphicFramePr>
          <p:cNvPr id="5" name="Table 4"/>
          <p:cNvGraphicFramePr/>
          <p:nvPr>
            <p:custDataLst>
              <p:tags r:id="rId1"/>
            </p:custDataLst>
            <p:extLst>
              <p:ext uri="{D42A27DB-BD31-4B8C-83A1-F6EECF244321}">
                <p14:modId xmlns:p14="http://schemas.microsoft.com/office/powerpoint/2010/main" val="978356720"/>
              </p:ext>
            </p:extLst>
          </p:nvPr>
        </p:nvGraphicFramePr>
        <p:xfrm>
          <a:off x="2472267" y="1152908"/>
          <a:ext cx="9388092" cy="4891341"/>
        </p:xfrm>
        <a:graphic>
          <a:graphicData uri="http://schemas.openxmlformats.org/drawingml/2006/table">
            <a:tbl>
              <a:tblPr/>
              <a:tblGrid>
                <a:gridCol w="1540418">
                  <a:extLst>
                    <a:ext uri="{9D8B030D-6E8A-4147-A177-3AD203B41FA5}">
                      <a16:colId xmlns:a16="http://schemas.microsoft.com/office/drawing/2014/main" val="20000"/>
                    </a:ext>
                  </a:extLst>
                </a:gridCol>
                <a:gridCol w="7763219">
                  <a:extLst>
                    <a:ext uri="{9D8B030D-6E8A-4147-A177-3AD203B41FA5}">
                      <a16:colId xmlns:a16="http://schemas.microsoft.com/office/drawing/2014/main" val="20001"/>
                    </a:ext>
                  </a:extLst>
                </a:gridCol>
                <a:gridCol w="84455">
                  <a:extLst>
                    <a:ext uri="{9D8B030D-6E8A-4147-A177-3AD203B41FA5}">
                      <a16:colId xmlns:a16="http://schemas.microsoft.com/office/drawing/2014/main" val="20002"/>
                    </a:ext>
                  </a:extLst>
                </a:gridCol>
              </a:tblGrid>
              <a:tr h="604061">
                <a:tc>
                  <a:txBody>
                    <a:bodyPr/>
                    <a:lstStyle/>
                    <a:p>
                      <a:pPr marL="59055" indent="0" algn="ctr">
                        <a:lnSpc>
                          <a:spcPct val="114000"/>
                        </a:lnSpc>
                        <a:spcBef>
                          <a:spcPct val="0"/>
                        </a:spcBef>
                        <a:spcAft>
                          <a:spcPct val="0"/>
                        </a:spcAft>
                      </a:pPr>
                      <a:r>
                        <a:rPr lang="en-US" altLang="zh-CN" sz="2400" b="1">
                          <a:solidFill>
                            <a:srgbClr val="000000"/>
                          </a:solidFill>
                          <a:latin typeface="Times New Roman" panose="02020603050405020304"/>
                          <a:ea typeface="Times New Roman" panose="02020603050405020304"/>
                        </a:rPr>
                        <a:t>SR.NO</a:t>
                      </a:r>
                    </a:p>
                  </a:txBody>
                  <a:tcPr marL="68580" marR="68580" marT="0" marB="0" anchor="b">
                    <a:lnL>
                      <a:noFill/>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solidFill>
                      <a:srgbClr val="FFFF00"/>
                    </a:solidFill>
                  </a:tcPr>
                </a:tc>
                <a:tc>
                  <a:txBody>
                    <a:bodyPr/>
                    <a:lstStyle/>
                    <a:p>
                      <a:pPr marL="59055" indent="0" algn="ctr">
                        <a:lnSpc>
                          <a:spcPct val="114000"/>
                        </a:lnSpc>
                        <a:spcBef>
                          <a:spcPct val="0"/>
                        </a:spcBef>
                        <a:spcAft>
                          <a:spcPct val="0"/>
                        </a:spcAft>
                      </a:pPr>
                      <a:r>
                        <a:rPr lang="en-US" altLang="zh-CN" sz="2400" b="1">
                          <a:solidFill>
                            <a:srgbClr val="000000"/>
                          </a:solidFill>
                          <a:latin typeface="Times New Roman" panose="02020603050405020304"/>
                          <a:ea typeface="Times New Roman" panose="02020603050405020304"/>
                        </a:rPr>
                        <a:t>Progress Report I</a:t>
                      </a: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solidFill>
                      <a:srgbClr val="FFFF00"/>
                    </a:solidFill>
                  </a:tcPr>
                </a:tc>
                <a:tc>
                  <a:txBody>
                    <a:bodyPr/>
                    <a:lstStyle/>
                    <a:p>
                      <a:endParaRPr/>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0"/>
                  </a:ext>
                </a:extLst>
              </a:tr>
              <a:tr h="604609">
                <a:tc>
                  <a:txBody>
                    <a:bodyPr/>
                    <a:lstStyle/>
                    <a:p>
                      <a:pPr marL="59055" indent="0" algn="ctr">
                        <a:lnSpc>
                          <a:spcPct val="114000"/>
                        </a:lnSpc>
                        <a:spcBef>
                          <a:spcPct val="0"/>
                        </a:spcBef>
                        <a:spcAft>
                          <a:spcPct val="0"/>
                        </a:spcAft>
                      </a:pPr>
                      <a:r>
                        <a:rPr lang="en-US" altLang="zh-CN" sz="2400">
                          <a:solidFill>
                            <a:srgbClr val="000000"/>
                          </a:solidFill>
                          <a:latin typeface="Times New Roman" panose="02020603050405020304"/>
                          <a:ea typeface="Times New Roman" panose="02020603050405020304"/>
                        </a:rPr>
                        <a:t>1</a:t>
                      </a:r>
                    </a:p>
                  </a:txBody>
                  <a:tcPr marL="68580" marR="68580" marT="0" marB="0" anchor="b">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59055" indent="0">
                        <a:lnSpc>
                          <a:spcPct val="114000"/>
                        </a:lnSpc>
                        <a:spcBef>
                          <a:spcPct val="0"/>
                        </a:spcBef>
                        <a:spcAft>
                          <a:spcPct val="0"/>
                        </a:spcAft>
                      </a:pPr>
                      <a:r>
                        <a:rPr lang="en-US" altLang="zh-CN" sz="2400" dirty="0">
                          <a:solidFill>
                            <a:srgbClr val="000000"/>
                          </a:solidFill>
                          <a:latin typeface="Times New Roman" panose="02020603050405020304"/>
                          <a:ea typeface="Times New Roman" panose="02020603050405020304"/>
                        </a:rPr>
                        <a:t>Aim, Objective and Scope of Project</a:t>
                      </a: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endParaRPr/>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1"/>
                  </a:ext>
                </a:extLst>
              </a:tr>
              <a:tr h="604061">
                <a:tc>
                  <a:txBody>
                    <a:bodyPr/>
                    <a:lstStyle/>
                    <a:p>
                      <a:pPr marL="59055" indent="0" algn="ctr">
                        <a:lnSpc>
                          <a:spcPct val="114000"/>
                        </a:lnSpc>
                        <a:spcBef>
                          <a:spcPct val="0"/>
                        </a:spcBef>
                        <a:spcAft>
                          <a:spcPct val="0"/>
                        </a:spcAft>
                      </a:pPr>
                      <a:r>
                        <a:rPr lang="en-US" altLang="zh-CN" sz="2400" dirty="0">
                          <a:solidFill>
                            <a:srgbClr val="000000"/>
                          </a:solidFill>
                          <a:latin typeface="Times New Roman" panose="02020603050405020304"/>
                          <a:ea typeface="Times New Roman" panose="02020603050405020304"/>
                        </a:rPr>
                        <a:t>2</a:t>
                      </a:r>
                    </a:p>
                  </a:txBody>
                  <a:tcPr marL="68580" marR="68580" marT="0" marB="0" anchor="b">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59055" indent="0">
                        <a:lnSpc>
                          <a:spcPct val="114000"/>
                        </a:lnSpc>
                        <a:spcBef>
                          <a:spcPct val="0"/>
                        </a:spcBef>
                        <a:spcAft>
                          <a:spcPct val="0"/>
                        </a:spcAft>
                      </a:pPr>
                      <a:r>
                        <a:rPr lang="en-US" altLang="zh-CN" sz="2400" dirty="0">
                          <a:solidFill>
                            <a:srgbClr val="000000"/>
                          </a:solidFill>
                          <a:latin typeface="Times New Roman" panose="02020603050405020304"/>
                          <a:ea typeface="Times New Roman" panose="02020603050405020304"/>
                        </a:rPr>
                        <a:t>H/W S/W Requirement, Tools, Human Efforts in Hours</a:t>
                      </a: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endParaRPr/>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2"/>
                  </a:ext>
                </a:extLst>
              </a:tr>
              <a:tr h="839551">
                <a:tc>
                  <a:txBody>
                    <a:bodyPr/>
                    <a:lstStyle/>
                    <a:p>
                      <a:pPr marL="59055" indent="0" algn="ctr">
                        <a:lnSpc>
                          <a:spcPct val="114000"/>
                        </a:lnSpc>
                        <a:spcBef>
                          <a:spcPct val="0"/>
                        </a:spcBef>
                        <a:spcAft>
                          <a:spcPct val="0"/>
                        </a:spcAft>
                      </a:pPr>
                      <a:r>
                        <a:rPr lang="en-US" altLang="zh-CN" sz="2400">
                          <a:solidFill>
                            <a:srgbClr val="000000"/>
                          </a:solidFill>
                          <a:latin typeface="Times New Roman" panose="02020603050405020304"/>
                          <a:ea typeface="Times New Roman" panose="02020603050405020304"/>
                        </a:rPr>
                        <a:t>3</a:t>
                      </a:r>
                    </a:p>
                  </a:txBody>
                  <a:tcPr marL="68580" marR="68580" marT="0" marB="0" anchor="b">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59055" indent="0">
                        <a:lnSpc>
                          <a:spcPct val="114000"/>
                        </a:lnSpc>
                        <a:spcBef>
                          <a:spcPct val="0"/>
                        </a:spcBef>
                        <a:spcAft>
                          <a:spcPct val="0"/>
                        </a:spcAft>
                      </a:pPr>
                      <a:r>
                        <a:rPr lang="en-US" altLang="zh-CN" sz="2400" dirty="0">
                          <a:solidFill>
                            <a:srgbClr val="000000"/>
                          </a:solidFill>
                          <a:latin typeface="Times New Roman" panose="02020603050405020304"/>
                          <a:ea typeface="Times New Roman" panose="02020603050405020304"/>
                        </a:rPr>
                        <a:t>System Overview, Proposed System and Expected outcome, </a:t>
                      </a: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endParaRPr/>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3"/>
                  </a:ext>
                </a:extLst>
              </a:tr>
              <a:tr h="604061">
                <a:tc>
                  <a:txBody>
                    <a:bodyPr/>
                    <a:lstStyle/>
                    <a:p>
                      <a:pPr marL="59055" indent="0" algn="ctr">
                        <a:lnSpc>
                          <a:spcPct val="114000"/>
                        </a:lnSpc>
                        <a:spcBef>
                          <a:spcPct val="0"/>
                        </a:spcBef>
                        <a:spcAft>
                          <a:spcPct val="0"/>
                        </a:spcAft>
                      </a:pPr>
                      <a:r>
                        <a:rPr lang="en-US" altLang="zh-CN" sz="2400" dirty="0">
                          <a:solidFill>
                            <a:srgbClr val="000000"/>
                          </a:solidFill>
                          <a:latin typeface="Times New Roman" panose="02020603050405020304"/>
                          <a:ea typeface="Times New Roman" panose="02020603050405020304"/>
                        </a:rPr>
                        <a:t>4</a:t>
                      </a:r>
                    </a:p>
                  </a:txBody>
                  <a:tcPr marL="68580" marR="68580" marT="0" marB="0" anchor="b">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59055" indent="0">
                        <a:lnSpc>
                          <a:spcPct val="114000"/>
                        </a:lnSpc>
                        <a:spcBef>
                          <a:spcPct val="0"/>
                        </a:spcBef>
                        <a:spcAft>
                          <a:spcPct val="0"/>
                        </a:spcAft>
                      </a:pPr>
                      <a:r>
                        <a:rPr lang="en-US" altLang="zh-CN" sz="2400" dirty="0">
                          <a:solidFill>
                            <a:srgbClr val="000000"/>
                          </a:solidFill>
                          <a:latin typeface="Times New Roman" panose="02020603050405020304"/>
                          <a:ea typeface="Times New Roman" panose="02020603050405020304"/>
                        </a:rPr>
                        <a:t>Title of Research Paper, Literature Review, Research Gap</a:t>
                      </a: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endParaRPr/>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4"/>
                  </a:ext>
                </a:extLst>
              </a:tr>
              <a:tr h="1475082">
                <a:tc>
                  <a:txBody>
                    <a:bodyPr/>
                    <a:lstStyle/>
                    <a:p>
                      <a:pPr marL="59055" indent="0" algn="ctr">
                        <a:lnSpc>
                          <a:spcPct val="114000"/>
                        </a:lnSpc>
                        <a:spcBef>
                          <a:spcPct val="0"/>
                        </a:spcBef>
                        <a:spcAft>
                          <a:spcPct val="0"/>
                        </a:spcAft>
                      </a:pPr>
                      <a:r>
                        <a:rPr lang="en-US" altLang="zh-CN" sz="2400" dirty="0">
                          <a:solidFill>
                            <a:srgbClr val="000000"/>
                          </a:solidFill>
                          <a:latin typeface="Times New Roman" panose="02020603050405020304"/>
                          <a:ea typeface="Times New Roman" panose="02020603050405020304"/>
                        </a:rPr>
                        <a:t>5</a:t>
                      </a:r>
                    </a:p>
                  </a:txBody>
                  <a:tcPr marL="68580" marR="68580" marT="0" marB="0" anchor="b">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59055" marR="0" lvl="0" indent="0" algn="l" defTabSz="457200" rtl="0" eaLnBrk="1" fontAlgn="auto" latinLnBrk="0" hangingPunct="1">
                        <a:lnSpc>
                          <a:spcPct val="114000"/>
                        </a:lnSpc>
                        <a:spcBef>
                          <a:spcPct val="0"/>
                        </a:spcBef>
                        <a:spcAft>
                          <a:spcPct val="0"/>
                        </a:spcAft>
                        <a:buClrTx/>
                        <a:buSzTx/>
                        <a:buFontTx/>
                        <a:buNone/>
                        <a:tabLst/>
                        <a:defRPr/>
                      </a:pPr>
                      <a:r>
                        <a:rPr lang="en-US" altLang="zh-CN" sz="2400" dirty="0">
                          <a:solidFill>
                            <a:srgbClr val="000000"/>
                          </a:solidFill>
                          <a:latin typeface="Times New Roman" panose="02020603050405020304"/>
                          <a:ea typeface="Times New Roman" panose="02020603050405020304"/>
                        </a:rPr>
                        <a:t>Abstract of Research Paper, Research Project Work Done in %,App Prototype Link, Architecture &amp; Flow diagram of the app design</a:t>
                      </a:r>
                    </a:p>
                    <a:p>
                      <a:pPr marL="59055" indent="0">
                        <a:lnSpc>
                          <a:spcPct val="114000"/>
                        </a:lnSpc>
                        <a:spcBef>
                          <a:spcPct val="0"/>
                        </a:spcBef>
                        <a:spcAft>
                          <a:spcPct val="0"/>
                        </a:spcAft>
                      </a:pPr>
                      <a:endParaRPr lang="en-US" altLang="zh-CN" sz="2400" dirty="0">
                        <a:solidFill>
                          <a:srgbClr val="000000"/>
                        </a:solidFill>
                        <a:latin typeface="Times New Roman" panose="02020603050405020304"/>
                        <a:ea typeface="Times New Roman" panose="02020603050405020304"/>
                      </a:endParaRP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endParaRPr dirty="0"/>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32778-90D6-E160-583B-CC671B73682C}"/>
              </a:ext>
            </a:extLst>
          </p:cNvPr>
          <p:cNvSpPr>
            <a:spLocks noGrp="1"/>
          </p:cNvSpPr>
          <p:nvPr>
            <p:ph type="title"/>
          </p:nvPr>
        </p:nvSpPr>
        <p:spPr>
          <a:xfrm>
            <a:off x="2279659" y="2461377"/>
            <a:ext cx="8911687" cy="1280890"/>
          </a:xfrm>
        </p:spPr>
        <p:txBody>
          <a:bodyPr/>
          <a:lstStyle/>
          <a:p>
            <a:pPr algn="ctr"/>
            <a:r>
              <a:rPr lang="en-US" b="1" dirty="0">
                <a:latin typeface="Times New Roman" panose="02020603050405020304" pitchFamily="18" charset="0"/>
                <a:cs typeface="Times New Roman" panose="02020603050405020304" pitchFamily="18" charset="0"/>
              </a:rPr>
              <a:t>PROGRESS REPORT-I</a:t>
            </a:r>
          </a:p>
        </p:txBody>
      </p:sp>
      <p:sp>
        <p:nvSpPr>
          <p:cNvPr id="4" name="Slide Number Placeholder 3">
            <a:extLst>
              <a:ext uri="{FF2B5EF4-FFF2-40B4-BE49-F238E27FC236}">
                <a16:creationId xmlns:a16="http://schemas.microsoft.com/office/drawing/2014/main" id="{DBED2639-25F8-9E33-9C2F-213CE356694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621835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4685887" y="1211982"/>
            <a:ext cx="3418840" cy="780217"/>
          </a:xfrm>
          <a:custGeom>
            <a:avLst/>
            <a:gdLst/>
            <a:ahLst/>
            <a:cxnLst/>
            <a:rect l="l" t="t" r="r" b="b"/>
            <a:pathLst>
              <a:path w="5128260" h="1195705">
                <a:moveTo>
                  <a:pt x="0" y="0"/>
                </a:moveTo>
                <a:lnTo>
                  <a:pt x="5128260" y="0"/>
                </a:lnTo>
                <a:lnTo>
                  <a:pt x="5128260" y="1195705"/>
                </a:lnTo>
                <a:lnTo>
                  <a:pt x="0" y="119570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933" dirty="0"/>
          </a:p>
        </p:txBody>
      </p:sp>
      <p:sp>
        <p:nvSpPr>
          <p:cNvPr id="8" name="Freeform 8"/>
          <p:cNvSpPr/>
          <p:nvPr/>
        </p:nvSpPr>
        <p:spPr>
          <a:xfrm>
            <a:off x="8382167" y="1211982"/>
            <a:ext cx="3418840" cy="797137"/>
          </a:xfrm>
          <a:custGeom>
            <a:avLst/>
            <a:gdLst/>
            <a:ahLst/>
            <a:cxnLst/>
            <a:rect l="l" t="t" r="r" b="b"/>
            <a:pathLst>
              <a:path w="5128260" h="1195705">
                <a:moveTo>
                  <a:pt x="0" y="0"/>
                </a:moveTo>
                <a:lnTo>
                  <a:pt x="5128260" y="0"/>
                </a:lnTo>
                <a:lnTo>
                  <a:pt x="5128260" y="1195705"/>
                </a:lnTo>
                <a:lnTo>
                  <a:pt x="0" y="119570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933" dirty="0"/>
          </a:p>
        </p:txBody>
      </p:sp>
      <p:sp>
        <p:nvSpPr>
          <p:cNvPr id="17" name="TextBox 17"/>
          <p:cNvSpPr txBox="1"/>
          <p:nvPr/>
        </p:nvSpPr>
        <p:spPr>
          <a:xfrm>
            <a:off x="11426428" y="6533170"/>
            <a:ext cx="194278" cy="179536"/>
          </a:xfrm>
          <a:prstGeom prst="rect">
            <a:avLst/>
          </a:prstGeom>
        </p:spPr>
        <p:txBody>
          <a:bodyPr lIns="0" tIns="0" rIns="0" bIns="0" rtlCol="0" anchor="t">
            <a:spAutoFit/>
          </a:bodyPr>
          <a:lstStyle/>
          <a:p>
            <a:pPr>
              <a:lnSpc>
                <a:spcPts val="1393"/>
              </a:lnSpc>
            </a:pPr>
            <a:r>
              <a:rPr lang="en-US" sz="1200" b="1" spc="-33">
                <a:solidFill>
                  <a:srgbClr val="FFFFFF"/>
                </a:solidFill>
                <a:latin typeface="Arial Bold"/>
                <a:ea typeface="Arial Bold"/>
                <a:cs typeface="Arial Bold"/>
                <a:sym typeface="Arial Bold"/>
              </a:rPr>
              <a:t>4</a:t>
            </a:r>
          </a:p>
        </p:txBody>
      </p:sp>
      <p:grpSp>
        <p:nvGrpSpPr>
          <p:cNvPr id="18" name="Group 18"/>
          <p:cNvGrpSpPr/>
          <p:nvPr/>
        </p:nvGrpSpPr>
        <p:grpSpPr>
          <a:xfrm>
            <a:off x="1397965" y="2148435"/>
            <a:ext cx="3108826" cy="3396967"/>
            <a:chOff x="0" y="0"/>
            <a:chExt cx="6792737" cy="7747911"/>
          </a:xfrm>
        </p:grpSpPr>
        <p:sp>
          <p:nvSpPr>
            <p:cNvPr id="19" name="Freeform 19"/>
            <p:cNvSpPr/>
            <p:nvPr/>
          </p:nvSpPr>
          <p:spPr>
            <a:xfrm>
              <a:off x="0" y="0"/>
              <a:ext cx="6792316" cy="7747132"/>
            </a:xfrm>
            <a:custGeom>
              <a:avLst/>
              <a:gdLst/>
              <a:ahLst/>
              <a:cxnLst/>
              <a:rect l="l" t="t" r="r" b="b"/>
              <a:pathLst>
                <a:path w="6792316" h="7747132">
                  <a:moveTo>
                    <a:pt x="6568262" y="7747132"/>
                  </a:moveTo>
                  <a:lnTo>
                    <a:pt x="227210" y="7747132"/>
                  </a:lnTo>
                  <a:lnTo>
                    <a:pt x="182652" y="7741286"/>
                  </a:lnTo>
                  <a:lnTo>
                    <a:pt x="101108" y="7696522"/>
                  </a:lnTo>
                  <a:lnTo>
                    <a:pt x="38121" y="7613175"/>
                  </a:lnTo>
                  <a:lnTo>
                    <a:pt x="4292" y="7505274"/>
                  </a:lnTo>
                  <a:lnTo>
                    <a:pt x="0" y="7446480"/>
                  </a:lnTo>
                  <a:lnTo>
                    <a:pt x="0" y="300652"/>
                  </a:lnTo>
                  <a:lnTo>
                    <a:pt x="17293" y="185569"/>
                  </a:lnTo>
                  <a:lnTo>
                    <a:pt x="66522" y="88024"/>
                  </a:lnTo>
                  <a:lnTo>
                    <a:pt x="140239" y="22883"/>
                  </a:lnTo>
                  <a:lnTo>
                    <a:pt x="227210" y="0"/>
                  </a:lnTo>
                  <a:lnTo>
                    <a:pt x="6568262" y="0"/>
                  </a:lnTo>
                  <a:lnTo>
                    <a:pt x="6612820" y="5846"/>
                  </a:lnTo>
                  <a:lnTo>
                    <a:pt x="6694363" y="50610"/>
                  </a:lnTo>
                  <a:lnTo>
                    <a:pt x="6757350" y="133957"/>
                  </a:lnTo>
                  <a:lnTo>
                    <a:pt x="6791054" y="241691"/>
                  </a:lnTo>
                  <a:lnTo>
                    <a:pt x="6792316" y="258561"/>
                  </a:lnTo>
                  <a:lnTo>
                    <a:pt x="6792316" y="7488403"/>
                  </a:lnTo>
                  <a:lnTo>
                    <a:pt x="6778179" y="7561395"/>
                  </a:lnTo>
                  <a:lnTo>
                    <a:pt x="6728950" y="7658939"/>
                  </a:lnTo>
                  <a:lnTo>
                    <a:pt x="6655233" y="7724081"/>
                  </a:lnTo>
                  <a:lnTo>
                    <a:pt x="6568262" y="7746964"/>
                  </a:lnTo>
                  <a:close/>
                </a:path>
              </a:pathLst>
            </a:custGeom>
            <a:solidFill>
              <a:srgbClr val="DBE6F1"/>
            </a:solidFill>
          </p:spPr>
          <p:txBody>
            <a:bodyPr/>
            <a:lstStyle/>
            <a:p>
              <a:endParaRPr lang="en-US" sz="933"/>
            </a:p>
          </p:txBody>
        </p:sp>
      </p:grpSp>
      <p:sp>
        <p:nvSpPr>
          <p:cNvPr id="20" name="Freeform 20"/>
          <p:cNvSpPr/>
          <p:nvPr/>
        </p:nvSpPr>
        <p:spPr>
          <a:xfrm>
            <a:off x="1608062" y="1228902"/>
            <a:ext cx="2712956" cy="780217"/>
          </a:xfrm>
          <a:custGeom>
            <a:avLst/>
            <a:gdLst/>
            <a:ahLst/>
            <a:cxnLst/>
            <a:rect l="l" t="t" r="r" b="b"/>
            <a:pathLst>
              <a:path w="5019408" h="1170325">
                <a:moveTo>
                  <a:pt x="0" y="0"/>
                </a:moveTo>
                <a:lnTo>
                  <a:pt x="5019408" y="0"/>
                </a:lnTo>
                <a:lnTo>
                  <a:pt x="5019408" y="1170325"/>
                </a:lnTo>
                <a:lnTo>
                  <a:pt x="0" y="117032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sz="933"/>
          </a:p>
        </p:txBody>
      </p:sp>
      <p:sp>
        <p:nvSpPr>
          <p:cNvPr id="31" name="TextBox 31"/>
          <p:cNvSpPr txBox="1"/>
          <p:nvPr/>
        </p:nvSpPr>
        <p:spPr>
          <a:xfrm>
            <a:off x="1573780" y="1395598"/>
            <a:ext cx="2558183" cy="290657"/>
          </a:xfrm>
          <a:prstGeom prst="rect">
            <a:avLst/>
          </a:prstGeom>
        </p:spPr>
        <p:txBody>
          <a:bodyPr lIns="0" tIns="0" rIns="0" bIns="0" rtlCol="0" anchor="t">
            <a:spAutoFit/>
          </a:bodyPr>
          <a:lstStyle/>
          <a:p>
            <a:pPr algn="ctr">
              <a:lnSpc>
                <a:spcPts val="2388"/>
              </a:lnSpc>
            </a:pPr>
            <a:r>
              <a:rPr lang="en-US" sz="1990" b="1" spc="42" dirty="0">
                <a:solidFill>
                  <a:srgbClr val="FFFFFF"/>
                </a:solidFill>
                <a:latin typeface="Times New Roman" panose="02020603050405020304" pitchFamily="18" charset="0"/>
                <a:ea typeface="Tahoma Bold"/>
                <a:cs typeface="Times New Roman" panose="02020603050405020304" pitchFamily="18" charset="0"/>
                <a:sym typeface="Tahoma Bold"/>
              </a:rPr>
              <a:t>AIM</a:t>
            </a:r>
          </a:p>
        </p:txBody>
      </p:sp>
      <p:grpSp>
        <p:nvGrpSpPr>
          <p:cNvPr id="33" name="Group 33"/>
          <p:cNvGrpSpPr/>
          <p:nvPr/>
        </p:nvGrpSpPr>
        <p:grpSpPr>
          <a:xfrm>
            <a:off x="4816908" y="2175747"/>
            <a:ext cx="3333968" cy="3396267"/>
            <a:chOff x="188068" y="23591"/>
            <a:chExt cx="6792315" cy="7891777"/>
          </a:xfrm>
        </p:grpSpPr>
        <p:sp>
          <p:nvSpPr>
            <p:cNvPr id="34" name="Freeform 34"/>
            <p:cNvSpPr/>
            <p:nvPr/>
          </p:nvSpPr>
          <p:spPr>
            <a:xfrm>
              <a:off x="188068" y="23591"/>
              <a:ext cx="6792315" cy="7891777"/>
            </a:xfrm>
            <a:custGeom>
              <a:avLst/>
              <a:gdLst/>
              <a:ahLst/>
              <a:cxnLst/>
              <a:rect l="l" t="t" r="r" b="b"/>
              <a:pathLst>
                <a:path w="6792316" h="7891778">
                  <a:moveTo>
                    <a:pt x="6568262" y="7891778"/>
                  </a:moveTo>
                  <a:lnTo>
                    <a:pt x="227210" y="7891778"/>
                  </a:lnTo>
                  <a:lnTo>
                    <a:pt x="182652" y="7885823"/>
                  </a:lnTo>
                  <a:lnTo>
                    <a:pt x="101108" y="7840223"/>
                  </a:lnTo>
                  <a:lnTo>
                    <a:pt x="38121" y="7755320"/>
                  </a:lnTo>
                  <a:lnTo>
                    <a:pt x="4292" y="7645404"/>
                  </a:lnTo>
                  <a:lnTo>
                    <a:pt x="0" y="7585512"/>
                  </a:lnTo>
                  <a:lnTo>
                    <a:pt x="0" y="306265"/>
                  </a:lnTo>
                  <a:lnTo>
                    <a:pt x="17293" y="189034"/>
                  </a:lnTo>
                  <a:lnTo>
                    <a:pt x="66522" y="89668"/>
                  </a:lnTo>
                  <a:lnTo>
                    <a:pt x="140239" y="23310"/>
                  </a:lnTo>
                  <a:lnTo>
                    <a:pt x="227210" y="0"/>
                  </a:lnTo>
                  <a:lnTo>
                    <a:pt x="6568262" y="0"/>
                  </a:lnTo>
                  <a:lnTo>
                    <a:pt x="6612820" y="5955"/>
                  </a:lnTo>
                  <a:lnTo>
                    <a:pt x="6694363" y="51555"/>
                  </a:lnTo>
                  <a:lnTo>
                    <a:pt x="6757350" y="136458"/>
                  </a:lnTo>
                  <a:lnTo>
                    <a:pt x="6791054" y="246203"/>
                  </a:lnTo>
                  <a:lnTo>
                    <a:pt x="6792316" y="263388"/>
                  </a:lnTo>
                  <a:lnTo>
                    <a:pt x="6792316" y="7628219"/>
                  </a:lnTo>
                  <a:lnTo>
                    <a:pt x="6778179" y="7702573"/>
                  </a:lnTo>
                  <a:lnTo>
                    <a:pt x="6728950" y="7801939"/>
                  </a:lnTo>
                  <a:lnTo>
                    <a:pt x="6655233" y="7868296"/>
                  </a:lnTo>
                  <a:lnTo>
                    <a:pt x="6568262" y="7891607"/>
                  </a:lnTo>
                  <a:close/>
                </a:path>
              </a:pathLst>
            </a:custGeom>
            <a:solidFill>
              <a:srgbClr val="DBE6F1"/>
            </a:solidFill>
          </p:spPr>
          <p:txBody>
            <a:bodyPr/>
            <a:lstStyle/>
            <a:p>
              <a:endParaRPr lang="en-US" sz="933" dirty="0"/>
            </a:p>
          </p:txBody>
        </p:sp>
      </p:grpSp>
      <p:grpSp>
        <p:nvGrpSpPr>
          <p:cNvPr id="36" name="Group 36"/>
          <p:cNvGrpSpPr/>
          <p:nvPr/>
        </p:nvGrpSpPr>
        <p:grpSpPr>
          <a:xfrm>
            <a:off x="8436401" y="2199891"/>
            <a:ext cx="3412913" cy="3422645"/>
            <a:chOff x="0" y="0"/>
            <a:chExt cx="6953148" cy="7851406"/>
          </a:xfrm>
        </p:grpSpPr>
        <p:sp>
          <p:nvSpPr>
            <p:cNvPr id="37" name="Freeform 37"/>
            <p:cNvSpPr/>
            <p:nvPr/>
          </p:nvSpPr>
          <p:spPr>
            <a:xfrm>
              <a:off x="0" y="0"/>
              <a:ext cx="6952717" cy="7850616"/>
            </a:xfrm>
            <a:custGeom>
              <a:avLst/>
              <a:gdLst/>
              <a:ahLst/>
              <a:cxnLst/>
              <a:rect l="l" t="t" r="r" b="b"/>
              <a:pathLst>
                <a:path w="6952717" h="7850616">
                  <a:moveTo>
                    <a:pt x="6723372" y="7850616"/>
                  </a:moveTo>
                  <a:lnTo>
                    <a:pt x="232576" y="7850616"/>
                  </a:lnTo>
                  <a:lnTo>
                    <a:pt x="186965" y="7844692"/>
                  </a:lnTo>
                  <a:lnTo>
                    <a:pt x="103496" y="7799331"/>
                  </a:lnTo>
                  <a:lnTo>
                    <a:pt x="39021" y="7714870"/>
                  </a:lnTo>
                  <a:lnTo>
                    <a:pt x="4393" y="7605528"/>
                  </a:lnTo>
                  <a:lnTo>
                    <a:pt x="0" y="7545949"/>
                  </a:lnTo>
                  <a:lnTo>
                    <a:pt x="0" y="304668"/>
                  </a:lnTo>
                  <a:lnTo>
                    <a:pt x="17702" y="188048"/>
                  </a:lnTo>
                  <a:lnTo>
                    <a:pt x="68093" y="89200"/>
                  </a:lnTo>
                  <a:lnTo>
                    <a:pt x="143551" y="23189"/>
                  </a:lnTo>
                  <a:lnTo>
                    <a:pt x="232576" y="0"/>
                  </a:lnTo>
                  <a:lnTo>
                    <a:pt x="6723372" y="0"/>
                  </a:lnTo>
                  <a:lnTo>
                    <a:pt x="6768983" y="5924"/>
                  </a:lnTo>
                  <a:lnTo>
                    <a:pt x="6852452" y="51286"/>
                  </a:lnTo>
                  <a:lnTo>
                    <a:pt x="6916927" y="135746"/>
                  </a:lnTo>
                  <a:lnTo>
                    <a:pt x="6951425" y="244919"/>
                  </a:lnTo>
                  <a:lnTo>
                    <a:pt x="6952717" y="262014"/>
                  </a:lnTo>
                  <a:lnTo>
                    <a:pt x="6952717" y="7588432"/>
                  </a:lnTo>
                  <a:lnTo>
                    <a:pt x="6938246" y="7662399"/>
                  </a:lnTo>
                  <a:lnTo>
                    <a:pt x="6887856" y="7761246"/>
                  </a:lnTo>
                  <a:lnTo>
                    <a:pt x="6812397" y="7827258"/>
                  </a:lnTo>
                  <a:lnTo>
                    <a:pt x="6723372" y="7850447"/>
                  </a:lnTo>
                  <a:close/>
                </a:path>
              </a:pathLst>
            </a:custGeom>
            <a:solidFill>
              <a:srgbClr val="DBE6F1"/>
            </a:solidFill>
          </p:spPr>
          <p:txBody>
            <a:bodyPr/>
            <a:lstStyle/>
            <a:p>
              <a:endParaRPr lang="en-US" sz="933"/>
            </a:p>
          </p:txBody>
        </p:sp>
      </p:grpSp>
      <p:sp>
        <p:nvSpPr>
          <p:cNvPr id="39" name="Google Shape;180;p19">
            <a:extLst>
              <a:ext uri="{FF2B5EF4-FFF2-40B4-BE49-F238E27FC236}">
                <a16:creationId xmlns:a16="http://schemas.microsoft.com/office/drawing/2014/main" id="{2675566B-C3D4-9A20-4000-8E5ABB6B255A}"/>
              </a:ext>
            </a:extLst>
          </p:cNvPr>
          <p:cNvSpPr txBox="1">
            <a:spLocks/>
          </p:cNvSpPr>
          <p:nvPr/>
        </p:nvSpPr>
        <p:spPr>
          <a:xfrm>
            <a:off x="2157271" y="287059"/>
            <a:ext cx="8911687" cy="395123"/>
          </a:xfrm>
          <a:prstGeom prst="rect">
            <a:avLst/>
          </a:prstGeom>
          <a:noFill/>
          <a:ln>
            <a:noFill/>
          </a:ln>
        </p:spPr>
        <p:txBody>
          <a:bodyPr spcFirstLastPara="1" wrap="square" lIns="91425" tIns="45700" rIns="91425" bIns="45700" anchor="t" anchorCtr="0">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spcBef>
                <a:spcPts val="0"/>
              </a:spcBef>
              <a:buClr>
                <a:srgbClr val="262626"/>
              </a:buClr>
              <a:buSzPts val="3600"/>
              <a:buFontTx/>
            </a:pPr>
            <a:r>
              <a:rPr lang="en-US" altLang="zh-CN" sz="2800" b="1" dirty="0">
                <a:solidFill>
                  <a:srgbClr val="000000"/>
                </a:solidFill>
                <a:latin typeface="Times New Roman" panose="02020603050405020304" pitchFamily="18" charset="0"/>
                <a:ea typeface="Times New Roman" panose="02020603050405020304"/>
                <a:cs typeface="Times New Roman" panose="02020603050405020304" pitchFamily="18" charset="0"/>
              </a:rPr>
              <a:t>Aim, Objective and Scope of Project</a:t>
            </a:r>
            <a:br>
              <a:rPr lang="en-US" altLang="zh-CN" sz="2800" b="1" dirty="0">
                <a:solidFill>
                  <a:srgbClr val="000000"/>
                </a:solidFill>
                <a:latin typeface="Times New Roman" panose="02020603050405020304" pitchFamily="18" charset="0"/>
                <a:ea typeface="Times New Roman" panose="02020603050405020304"/>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p:txBody>
      </p:sp>
      <p:sp>
        <p:nvSpPr>
          <p:cNvPr id="41" name="TextBox 31">
            <a:extLst>
              <a:ext uri="{FF2B5EF4-FFF2-40B4-BE49-F238E27FC236}">
                <a16:creationId xmlns:a16="http://schemas.microsoft.com/office/drawing/2014/main" id="{B1962AEF-403B-703D-F85B-4F16BB3D676C}"/>
              </a:ext>
            </a:extLst>
          </p:cNvPr>
          <p:cNvSpPr txBox="1"/>
          <p:nvPr/>
        </p:nvSpPr>
        <p:spPr>
          <a:xfrm>
            <a:off x="5204799" y="1395599"/>
            <a:ext cx="2558183" cy="290657"/>
          </a:xfrm>
          <a:prstGeom prst="rect">
            <a:avLst/>
          </a:prstGeom>
        </p:spPr>
        <p:txBody>
          <a:bodyPr lIns="0" tIns="0" rIns="0" bIns="0" rtlCol="0" anchor="t">
            <a:spAutoFit/>
          </a:bodyPr>
          <a:lstStyle/>
          <a:p>
            <a:pPr algn="ctr">
              <a:lnSpc>
                <a:spcPts val="2388"/>
              </a:lnSpc>
            </a:pPr>
            <a:r>
              <a:rPr lang="en-US" sz="1990" b="1" spc="42" dirty="0">
                <a:solidFill>
                  <a:srgbClr val="FFFFFF"/>
                </a:solidFill>
                <a:latin typeface="Times New Roman" panose="02020603050405020304" pitchFamily="18" charset="0"/>
                <a:ea typeface="Tahoma Bold"/>
                <a:cs typeface="Times New Roman" panose="02020603050405020304" pitchFamily="18" charset="0"/>
                <a:sym typeface="Tahoma Bold"/>
              </a:rPr>
              <a:t>OBJECTIVE</a:t>
            </a:r>
          </a:p>
        </p:txBody>
      </p:sp>
      <p:sp>
        <p:nvSpPr>
          <p:cNvPr id="43" name="TextBox 31">
            <a:extLst>
              <a:ext uri="{FF2B5EF4-FFF2-40B4-BE49-F238E27FC236}">
                <a16:creationId xmlns:a16="http://schemas.microsoft.com/office/drawing/2014/main" id="{CF9512AB-6969-CF2C-C59F-DC3FABD2EFED}"/>
              </a:ext>
            </a:extLst>
          </p:cNvPr>
          <p:cNvSpPr txBox="1"/>
          <p:nvPr/>
        </p:nvSpPr>
        <p:spPr>
          <a:xfrm>
            <a:off x="8965384" y="1410993"/>
            <a:ext cx="2558183" cy="290657"/>
          </a:xfrm>
          <a:prstGeom prst="rect">
            <a:avLst/>
          </a:prstGeom>
        </p:spPr>
        <p:txBody>
          <a:bodyPr lIns="0" tIns="0" rIns="0" bIns="0" rtlCol="0" anchor="t">
            <a:spAutoFit/>
          </a:bodyPr>
          <a:lstStyle/>
          <a:p>
            <a:pPr algn="ctr">
              <a:lnSpc>
                <a:spcPts val="2388"/>
              </a:lnSpc>
            </a:pPr>
            <a:r>
              <a:rPr lang="en-US" sz="1990" b="1" spc="42" dirty="0">
                <a:solidFill>
                  <a:srgbClr val="FFFFFF"/>
                </a:solidFill>
                <a:latin typeface="Times New Roman" panose="02020603050405020304" pitchFamily="18" charset="0"/>
                <a:ea typeface="Tahoma Bold"/>
                <a:cs typeface="Times New Roman" panose="02020603050405020304" pitchFamily="18" charset="0"/>
                <a:sym typeface="Tahoma Bold"/>
              </a:rPr>
              <a:t>SCOPE</a:t>
            </a:r>
          </a:p>
        </p:txBody>
      </p:sp>
      <p:sp>
        <p:nvSpPr>
          <p:cNvPr id="3" name="TextBox 2">
            <a:extLst>
              <a:ext uri="{FF2B5EF4-FFF2-40B4-BE49-F238E27FC236}">
                <a16:creationId xmlns:a16="http://schemas.microsoft.com/office/drawing/2014/main" id="{99491295-FC4B-6C24-AF27-55FF413431BB}"/>
              </a:ext>
            </a:extLst>
          </p:cNvPr>
          <p:cNvSpPr txBox="1"/>
          <p:nvPr/>
        </p:nvSpPr>
        <p:spPr>
          <a:xfrm>
            <a:off x="1573780" y="2292475"/>
            <a:ext cx="2781520" cy="2677656"/>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We aim to create a comprehensive, real-time air quality monitoring and visualization system for India. It combines data from multiple sources, including ISRO satellites and CPCB ground stations, to provide accurate and actionable air quality information. The ultimate goal is to empower the general public, researchers, and government agencies to make informed decisions for a healthier life.</a:t>
            </a:r>
          </a:p>
        </p:txBody>
      </p:sp>
      <p:sp>
        <p:nvSpPr>
          <p:cNvPr id="6" name="TextBox 5">
            <a:extLst>
              <a:ext uri="{FF2B5EF4-FFF2-40B4-BE49-F238E27FC236}">
                <a16:creationId xmlns:a16="http://schemas.microsoft.com/office/drawing/2014/main" id="{5DBF8BBC-71BC-CB67-8FBC-CC31C5081B95}"/>
              </a:ext>
            </a:extLst>
          </p:cNvPr>
          <p:cNvSpPr txBox="1"/>
          <p:nvPr/>
        </p:nvSpPr>
        <p:spPr>
          <a:xfrm>
            <a:off x="5027625" y="2400369"/>
            <a:ext cx="2912533" cy="2462213"/>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Aggregate and display real-time/historical AQI data from ground and satellite sources. </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Visualize air quality trends, provide 24–72-hour forecasts, and deliver health advisories/alerts. </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Enable users to access hyperlocal air pollution insights via mobile/web app</a:t>
            </a:r>
          </a:p>
        </p:txBody>
      </p:sp>
      <p:sp>
        <p:nvSpPr>
          <p:cNvPr id="9" name="TextBox 8">
            <a:extLst>
              <a:ext uri="{FF2B5EF4-FFF2-40B4-BE49-F238E27FC236}">
                <a16:creationId xmlns:a16="http://schemas.microsoft.com/office/drawing/2014/main" id="{2DA5D790-5F0B-0B7D-3E0F-249E8260610B}"/>
              </a:ext>
            </a:extLst>
          </p:cNvPr>
          <p:cNvSpPr txBox="1"/>
          <p:nvPr/>
        </p:nvSpPr>
        <p:spPr>
          <a:xfrm>
            <a:off x="8436401" y="2400369"/>
            <a:ext cx="3418840" cy="2677656"/>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Vayu Drishti is a real-time air quality monitoring and visualization system designed to provide accurate, actionable information across India. We achieve this by integrating data from multiple sources, including </a:t>
            </a:r>
            <a:r>
              <a:rPr lang="en-US" b="1" dirty="0">
                <a:latin typeface="Times New Roman" panose="02020603050405020304" pitchFamily="18" charset="0"/>
                <a:cs typeface="Times New Roman" panose="02020603050405020304" pitchFamily="18" charset="0"/>
              </a:rPr>
              <a:t>ISRO satellite data</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CPCB government ground stations</a:t>
            </a:r>
            <a:r>
              <a:rPr lang="en-US" dirty="0">
                <a:latin typeface="Times New Roman" panose="02020603050405020304" pitchFamily="18" charset="0"/>
                <a:cs typeface="Times New Roman" panose="02020603050405020304" pitchFamily="18" charset="0"/>
              </a:rPr>
              <a:t>, which are collected by a Python-based web scraper. The data is then processed by a </a:t>
            </a:r>
            <a:r>
              <a:rPr lang="en-US" b="1" dirty="0">
                <a:latin typeface="Times New Roman" panose="02020603050405020304" pitchFamily="18" charset="0"/>
                <a:cs typeface="Times New Roman" panose="02020603050405020304" pitchFamily="18" charset="0"/>
              </a:rPr>
              <a:t>Node.js backend</a:t>
            </a:r>
            <a:r>
              <a:rPr lang="en-US" dirty="0">
                <a:latin typeface="Times New Roman" panose="02020603050405020304" pitchFamily="18" charset="0"/>
                <a:cs typeface="Times New Roman" panose="02020603050405020304" pitchFamily="18" charset="0"/>
              </a:rPr>
              <a:t> and displayed on a </a:t>
            </a:r>
            <a:r>
              <a:rPr lang="en-US" b="1" dirty="0">
                <a:latin typeface="Times New Roman" panose="02020603050405020304" pitchFamily="18" charset="0"/>
                <a:cs typeface="Times New Roman" panose="02020603050405020304" pitchFamily="18" charset="0"/>
              </a:rPr>
              <a:t>Flutter mobile app</a:t>
            </a:r>
            <a:r>
              <a:rPr lang="en-US" dirty="0">
                <a:latin typeface="Times New Roman" panose="02020603050405020304" pitchFamily="18" charset="0"/>
                <a:cs typeface="Times New Roman" panose="02020603050405020304" pitchFamily="18" charset="0"/>
              </a:rPr>
              <a:t>, ultimately empowering users to make informed health decisions.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598" y="222109"/>
            <a:ext cx="9379479" cy="748235"/>
          </a:xfrm>
        </p:spPr>
        <p:txBody>
          <a:bodyPr>
            <a:noAutofit/>
          </a:bodyPr>
          <a:lstStyle/>
          <a:p>
            <a:r>
              <a:rPr lang="en-US" altLang="zh-CN" sz="2800" b="1" dirty="0">
                <a:solidFill>
                  <a:srgbClr val="000000"/>
                </a:solidFill>
                <a:latin typeface="Times New Roman" panose="02020603050405020304" pitchFamily="18" charset="0"/>
                <a:ea typeface="Times New Roman" panose="02020603050405020304"/>
                <a:cs typeface="Times New Roman" panose="02020603050405020304" pitchFamily="18" charset="0"/>
              </a:rPr>
              <a:t>Software Requirement, Tools, Human Efforts in Hours</a:t>
            </a:r>
            <a:br>
              <a:rPr lang="en-US" altLang="zh-CN" sz="2800" b="1" dirty="0">
                <a:solidFill>
                  <a:srgbClr val="000000"/>
                </a:solidFill>
                <a:latin typeface="Times New Roman" panose="02020603050405020304" pitchFamily="18" charset="0"/>
                <a:ea typeface="Times New Roman" panose="02020603050405020304"/>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15733" y="851810"/>
            <a:ext cx="8778344" cy="5659057"/>
          </a:xfrm>
        </p:spPr>
        <p:txBody>
          <a:bodyPr>
            <a:noAutofit/>
          </a:bodyPr>
          <a:lstStyle/>
          <a:p>
            <a:pPr marL="0" indent="0" algn="ctr">
              <a:buNone/>
            </a:pPr>
            <a:r>
              <a:rPr lang="en-US" sz="1400" b="1" dirty="0">
                <a:solidFill>
                  <a:srgbClr val="FF0000"/>
                </a:solidFill>
                <a:latin typeface="Times New Roman" panose="02020603050405020304" pitchFamily="18" charset="0"/>
                <a:cs typeface="Times New Roman" panose="02020603050405020304" pitchFamily="18" charset="0"/>
              </a:rPr>
              <a:t>Requirements </a:t>
            </a:r>
          </a:p>
          <a:p>
            <a:pPr marL="0" indent="0" algn="ctr">
              <a:buNone/>
            </a:pPr>
            <a:r>
              <a:rPr lang="en-US" sz="1400" b="1" dirty="0">
                <a:latin typeface="Times New Roman" panose="02020603050405020304" pitchFamily="18" charset="0"/>
                <a:cs typeface="Times New Roman" panose="02020603050405020304" pitchFamily="18" charset="0"/>
              </a:rPr>
              <a:t>Real-time &amp; historical AQI data collection</a:t>
            </a:r>
            <a:r>
              <a:rPr lang="en-US" sz="1400" dirty="0">
                <a:latin typeface="Times New Roman" panose="02020603050405020304" pitchFamily="18" charset="0"/>
                <a:cs typeface="Times New Roman" panose="02020603050405020304" pitchFamily="18" charset="0"/>
              </a:rPr>
              <a:t>: Integrating sources like CPCB, ISRO VEDAS APIs or scrapers. </a:t>
            </a:r>
          </a:p>
          <a:p>
            <a:pPr marL="0" indent="0" algn="ctr">
              <a:buNone/>
            </a:pPr>
            <a:r>
              <a:rPr lang="en-US" sz="1400" b="1" dirty="0">
                <a:latin typeface="Times New Roman" panose="02020603050405020304" pitchFamily="18" charset="0"/>
                <a:cs typeface="Times New Roman" panose="02020603050405020304" pitchFamily="18" charset="0"/>
              </a:rPr>
              <a:t>Mobile user interface</a:t>
            </a:r>
            <a:r>
              <a:rPr lang="en-US" sz="1400" dirty="0">
                <a:latin typeface="Times New Roman" panose="02020603050405020304" pitchFamily="18" charset="0"/>
                <a:cs typeface="Times New Roman" panose="02020603050405020304" pitchFamily="18" charset="0"/>
              </a:rPr>
              <a:t>: Visualizing AQI data, trends, heatmaps, and forecasts. </a:t>
            </a:r>
          </a:p>
          <a:p>
            <a:pPr marL="0" indent="0" algn="ctr">
              <a:buNone/>
            </a:pPr>
            <a:r>
              <a:rPr lang="en-US" sz="1400" b="1" dirty="0">
                <a:latin typeface="Times New Roman" panose="02020603050405020304" pitchFamily="18" charset="0"/>
                <a:cs typeface="Times New Roman" panose="02020603050405020304" pitchFamily="18" charset="0"/>
              </a:rPr>
              <a:t>Forecasting module:</a:t>
            </a:r>
            <a:r>
              <a:rPr lang="en-US" sz="1400" dirty="0">
                <a:latin typeface="Times New Roman" panose="02020603050405020304" pitchFamily="18" charset="0"/>
                <a:cs typeface="Times New Roman" panose="02020603050405020304" pitchFamily="18" charset="0"/>
              </a:rPr>
              <a:t> Predicting 24–72-hour air quality using meteorology and AQI history.</a:t>
            </a:r>
          </a:p>
          <a:p>
            <a:pPr marL="0" indent="0" algn="ctr">
              <a:buNone/>
            </a:pPr>
            <a:r>
              <a:rPr lang="en-US" sz="1400" b="1" dirty="0">
                <a:latin typeface="Times New Roman" panose="02020603050405020304" pitchFamily="18" charset="0"/>
                <a:cs typeface="Times New Roman" panose="02020603050405020304" pitchFamily="18" charset="0"/>
              </a:rPr>
              <a:t>Push notifications</a:t>
            </a:r>
            <a:r>
              <a:rPr lang="en-US" sz="1400" dirty="0">
                <a:latin typeface="Times New Roman" panose="02020603050405020304" pitchFamily="18" charset="0"/>
                <a:cs typeface="Times New Roman" panose="02020603050405020304" pitchFamily="18" charset="0"/>
              </a:rPr>
              <a:t>: Sending health alerts when pollution spikes are detected. </a:t>
            </a:r>
          </a:p>
          <a:p>
            <a:pPr marL="0" indent="0" algn="ctr">
              <a:buNone/>
            </a:pPr>
            <a:r>
              <a:rPr lang="en-US" sz="1400" b="1" dirty="0">
                <a:latin typeface="Times New Roman" panose="02020603050405020304" pitchFamily="18" charset="0"/>
                <a:cs typeface="Times New Roman" panose="02020603050405020304" pitchFamily="18" charset="0"/>
              </a:rPr>
              <a:t>Health advisories dashboard</a:t>
            </a:r>
            <a:r>
              <a:rPr lang="en-US" sz="1400" dirty="0">
                <a:latin typeface="Times New Roman" panose="02020603050405020304" pitchFamily="18" charset="0"/>
                <a:cs typeface="Times New Roman" panose="02020603050405020304" pitchFamily="18" charset="0"/>
              </a:rPr>
              <a:t>: Displaying actionable health advice based on AQI level. </a:t>
            </a:r>
          </a:p>
          <a:p>
            <a:pPr marL="0" indent="0" algn="ctr">
              <a:buNone/>
            </a:pPr>
            <a:r>
              <a:rPr lang="en-US" sz="1400" b="1" dirty="0">
                <a:latin typeface="Times New Roman" panose="02020603050405020304" pitchFamily="18" charset="0"/>
                <a:cs typeface="Times New Roman" panose="02020603050405020304" pitchFamily="18" charset="0"/>
              </a:rPr>
              <a:t>Backend &amp; database</a:t>
            </a:r>
            <a:r>
              <a:rPr lang="en-US" sz="1400" dirty="0">
                <a:latin typeface="Times New Roman" panose="02020603050405020304" pitchFamily="18" charset="0"/>
                <a:cs typeface="Times New Roman" panose="02020603050405020304" pitchFamily="18" charset="0"/>
              </a:rPr>
              <a:t>: Efficient data storage, management, and secure API delivery. </a:t>
            </a:r>
          </a:p>
          <a:p>
            <a:pPr marL="0" indent="0" algn="ctr">
              <a:buNone/>
            </a:pPr>
            <a:r>
              <a:rPr lang="en-US" sz="1400" b="1" dirty="0">
                <a:solidFill>
                  <a:srgbClr val="FF0000"/>
                </a:solidFill>
                <a:latin typeface="Times New Roman" panose="02020603050405020304" pitchFamily="18" charset="0"/>
                <a:cs typeface="Times New Roman" panose="02020603050405020304" pitchFamily="18" charset="0"/>
              </a:rPr>
              <a:t>Tools &amp; Technologies </a:t>
            </a:r>
          </a:p>
          <a:p>
            <a:pPr marL="0" indent="0" algn="ctr">
              <a:buNone/>
            </a:pPr>
            <a:r>
              <a:rPr lang="en-US" sz="1400" b="1" dirty="0">
                <a:latin typeface="Times New Roman" panose="02020603050405020304" pitchFamily="18" charset="0"/>
                <a:cs typeface="Times New Roman" panose="02020603050405020304" pitchFamily="18" charset="0"/>
              </a:rPr>
              <a:t>Frontend</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Streamlit</a:t>
            </a:r>
            <a:r>
              <a:rPr lang="en-US" sz="1400" dirty="0">
                <a:latin typeface="Times New Roman" panose="02020603050405020304" pitchFamily="18" charset="0"/>
                <a:cs typeface="Times New Roman" panose="02020603050405020304" pitchFamily="18" charset="0"/>
              </a:rPr>
              <a:t> Web App</a:t>
            </a:r>
          </a:p>
          <a:p>
            <a:pPr marL="0" indent="0" algn="ctr">
              <a:buNone/>
            </a:pPr>
            <a:r>
              <a:rPr lang="en-US" sz="1400" b="1" dirty="0">
                <a:latin typeface="Times New Roman" panose="02020603050405020304" pitchFamily="18" charset="0"/>
                <a:cs typeface="Times New Roman" panose="02020603050405020304" pitchFamily="18" charset="0"/>
              </a:rPr>
              <a:t>Scrape</a:t>
            </a:r>
            <a:r>
              <a:rPr lang="en-US" sz="1400" dirty="0">
                <a:latin typeface="Times New Roman" panose="02020603050405020304" pitchFamily="18" charset="0"/>
                <a:cs typeface="Times New Roman" panose="02020603050405020304" pitchFamily="18" charset="0"/>
              </a:rPr>
              <a:t>r: Python (requests, Beautiful Soup, Pandas for scraper and data processor)</a:t>
            </a:r>
          </a:p>
          <a:p>
            <a:pPr marL="0" indent="0" algn="ctr">
              <a:buNone/>
            </a:pPr>
            <a:r>
              <a:rPr lang="en-US" sz="1400" b="1" dirty="0">
                <a:latin typeface="Times New Roman" panose="02020603050405020304" pitchFamily="18" charset="0"/>
                <a:cs typeface="Times New Roman" panose="02020603050405020304" pitchFamily="18" charset="0"/>
              </a:rPr>
              <a:t>Visualization Maps</a:t>
            </a:r>
            <a:r>
              <a:rPr lang="en-US" sz="1400" dirty="0">
                <a:latin typeface="Times New Roman" panose="02020603050405020304" pitchFamily="18" charset="0"/>
                <a:cs typeface="Times New Roman" panose="02020603050405020304" pitchFamily="18" charset="0"/>
              </a:rPr>
              <a:t>: Folium Maps,Leaflet.js</a:t>
            </a:r>
          </a:p>
          <a:p>
            <a:pPr marL="0" indent="0" algn="ctr">
              <a:buNone/>
            </a:pPr>
            <a:r>
              <a:rPr lang="en-US" sz="1400" b="1" dirty="0">
                <a:latin typeface="Times New Roman" panose="02020603050405020304" pitchFamily="18" charset="0"/>
                <a:cs typeface="Times New Roman" panose="02020603050405020304" pitchFamily="18" charset="0"/>
              </a:rPr>
              <a:t>Forecasting</a:t>
            </a:r>
            <a:r>
              <a:rPr lang="en-US" sz="1400" dirty="0">
                <a:latin typeface="Times New Roman" panose="02020603050405020304" pitchFamily="18" charset="0"/>
                <a:cs typeface="Times New Roman" panose="02020603050405020304" pitchFamily="18" charset="0"/>
              </a:rPr>
              <a:t>: Random Forest for ML models </a:t>
            </a:r>
          </a:p>
          <a:p>
            <a:pPr marL="0" indent="0" algn="ctr">
              <a:buNone/>
            </a:pPr>
            <a:r>
              <a:rPr lang="en-US" sz="1400" b="1" dirty="0">
                <a:latin typeface="Times New Roman" panose="02020603050405020304" pitchFamily="18" charset="0"/>
                <a:cs typeface="Times New Roman" panose="02020603050405020304" pitchFamily="18" charset="0"/>
              </a:rPr>
              <a:t>Testing/Analytic</a:t>
            </a:r>
            <a:r>
              <a:rPr lang="en-US" sz="1400" dirty="0">
                <a:latin typeface="Times New Roman" panose="02020603050405020304" pitchFamily="18" charset="0"/>
                <a:cs typeface="Times New Roman" panose="02020603050405020304" pitchFamily="18" charset="0"/>
              </a:rPr>
              <a:t>s: Jest, Firebase Analytics </a:t>
            </a:r>
          </a:p>
          <a:p>
            <a:pPr marL="0" indent="0" algn="ctr">
              <a:buNone/>
            </a:pPr>
            <a:r>
              <a:rPr lang="en-US" sz="1400" b="1" dirty="0">
                <a:solidFill>
                  <a:srgbClr val="FF0000"/>
                </a:solidFill>
                <a:latin typeface="Times New Roman" panose="02020603050405020304" pitchFamily="18" charset="0"/>
                <a:cs typeface="Times New Roman" panose="02020603050405020304" pitchFamily="18" charset="0"/>
              </a:rPr>
              <a:t>Human Effort (</a:t>
            </a:r>
            <a:r>
              <a:rPr lang="en-US" sz="1400" b="1" dirty="0" err="1">
                <a:solidFill>
                  <a:srgbClr val="FF0000"/>
                </a:solidFill>
                <a:latin typeface="Times New Roman" panose="02020603050405020304" pitchFamily="18" charset="0"/>
                <a:cs typeface="Times New Roman" panose="02020603050405020304" pitchFamily="18" charset="0"/>
              </a:rPr>
              <a:t>approx</a:t>
            </a:r>
            <a:r>
              <a:rPr lang="en-US" sz="1400" b="1" dirty="0">
                <a:solidFill>
                  <a:srgbClr val="FF0000"/>
                </a:solidFill>
                <a:latin typeface="Times New Roman" panose="02020603050405020304" pitchFamily="18" charset="0"/>
                <a:cs typeface="Times New Roman" panose="02020603050405020304" pitchFamily="18" charset="0"/>
              </a:rPr>
              <a:t>): </a:t>
            </a:r>
          </a:p>
          <a:p>
            <a:pPr marL="0" indent="0" algn="ctr">
              <a:buNone/>
            </a:pPr>
            <a:r>
              <a:rPr lang="en-US" sz="1400" dirty="0">
                <a:latin typeface="Times New Roman" panose="02020603050405020304" pitchFamily="18" charset="0"/>
                <a:cs typeface="Times New Roman" panose="02020603050405020304" pitchFamily="18" charset="0"/>
              </a:rPr>
              <a:t>4 students, each 15–20 hours </a:t>
            </a:r>
          </a:p>
          <a:p>
            <a:pPr marL="0" indent="0" algn="ctr">
              <a:buNone/>
            </a:pPr>
            <a:r>
              <a:rPr lang="en-US" sz="1400" dirty="0">
                <a:latin typeface="Times New Roman" panose="02020603050405020304" pitchFamily="18" charset="0"/>
                <a:cs typeface="Times New Roman" panose="02020603050405020304" pitchFamily="18" charset="0"/>
              </a:rPr>
              <a:t>Total ~70 hours (design, coding, testing, docs)</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343131"/>
            <a:ext cx="10583333" cy="889301"/>
          </a:xfrm>
        </p:spPr>
        <p:txBody>
          <a:bodyPr>
            <a:noAutofit/>
          </a:bodyPr>
          <a:lstStyle/>
          <a:p>
            <a:pPr algn="ctr"/>
            <a:r>
              <a:rPr lang="en-US" altLang="zh-CN" sz="2800" b="1" dirty="0">
                <a:solidFill>
                  <a:srgbClr val="000000"/>
                </a:solidFill>
                <a:latin typeface="Times New Roman" panose="02020603050405020304" pitchFamily="18" charset="0"/>
                <a:ea typeface="Times New Roman" panose="02020603050405020304"/>
                <a:cs typeface="Times New Roman" panose="02020603050405020304" pitchFamily="18" charset="0"/>
              </a:rPr>
              <a:t>System Overview, Proposed System and Expected outcome</a:t>
            </a:r>
            <a:br>
              <a:rPr lang="en-US" altLang="zh-CN" sz="2800" b="1" dirty="0">
                <a:solidFill>
                  <a:srgbClr val="000000"/>
                </a:solidFill>
                <a:latin typeface="Times New Roman" panose="02020603050405020304" pitchFamily="18" charset="0"/>
                <a:ea typeface="Times New Roman" panose="02020603050405020304"/>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5" name="TextBox 4">
            <a:extLst>
              <a:ext uri="{FF2B5EF4-FFF2-40B4-BE49-F238E27FC236}">
                <a16:creationId xmlns:a16="http://schemas.microsoft.com/office/drawing/2014/main" id="{E2C24C1D-9430-DA87-53AC-137C48A18A5D}"/>
              </a:ext>
            </a:extLst>
          </p:cNvPr>
          <p:cNvSpPr txBox="1"/>
          <p:nvPr/>
        </p:nvSpPr>
        <p:spPr>
          <a:xfrm>
            <a:off x="2700867" y="1265122"/>
            <a:ext cx="9245599" cy="4616648"/>
          </a:xfrm>
          <a:prstGeom prst="rect">
            <a:avLst/>
          </a:prstGeom>
          <a:noFill/>
        </p:spPr>
        <p:txBody>
          <a:bodyPr wrap="square">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System Overview &amp; Outcome System Overview </a:t>
            </a:r>
          </a:p>
          <a:p>
            <a:pPr algn="ctr"/>
            <a:r>
              <a:rPr lang="en-US" dirty="0">
                <a:latin typeface="Times New Roman" panose="02020603050405020304" pitchFamily="18" charset="0"/>
                <a:cs typeface="Times New Roman" panose="02020603050405020304" pitchFamily="18" charset="0"/>
              </a:rPr>
              <a:t>The system collects real-time air quality data from multiple sources (CPCB, ISRO VEDAS, AQICN) via APIs and scrapers, stores and processes the data in a backend, and delivers it to a mobile/web app. It visualizes current and historical AQI, forecasts pollution levels, and sends health alerts. </a:t>
            </a:r>
          </a:p>
          <a:p>
            <a:pPr algn="ctr"/>
            <a:endParaRPr lang="en-US" dirty="0">
              <a:latin typeface="Times New Roman" panose="02020603050405020304" pitchFamily="18" charset="0"/>
              <a:cs typeface="Times New Roman" panose="02020603050405020304" pitchFamily="18" charset="0"/>
            </a:endParaRPr>
          </a:p>
          <a:p>
            <a:pPr algn="ctr"/>
            <a:r>
              <a:rPr lang="en-US" b="1" dirty="0">
                <a:solidFill>
                  <a:srgbClr val="FF0000"/>
                </a:solidFill>
                <a:latin typeface="Times New Roman" panose="02020603050405020304" pitchFamily="18" charset="0"/>
                <a:cs typeface="Times New Roman" panose="02020603050405020304" pitchFamily="18" charset="0"/>
              </a:rPr>
              <a:t>Proposed System </a:t>
            </a:r>
          </a:p>
          <a:p>
            <a:pPr algn="ctr"/>
            <a:r>
              <a:rPr lang="en-US" b="1" dirty="0">
                <a:latin typeface="Times New Roman" panose="02020603050405020304" pitchFamily="18" charset="0"/>
                <a:cs typeface="Times New Roman" panose="02020603050405020304" pitchFamily="18" charset="0"/>
              </a:rPr>
              <a:t>Data Collection</a:t>
            </a:r>
            <a:r>
              <a:rPr lang="en-US" dirty="0">
                <a:latin typeface="Times New Roman" panose="02020603050405020304" pitchFamily="18" charset="0"/>
                <a:cs typeface="Times New Roman" panose="02020603050405020304" pitchFamily="18" charset="0"/>
              </a:rPr>
              <a:t>: Automated web scraping and API integration to ingest air pollution data. </a:t>
            </a:r>
          </a:p>
          <a:p>
            <a:pPr algn="ctr"/>
            <a:endParaRPr lang="en-US"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Backend</a:t>
            </a:r>
            <a:r>
              <a:rPr lang="en-US" dirty="0">
                <a:latin typeface="Times New Roman" panose="02020603050405020304" pitchFamily="18" charset="0"/>
                <a:cs typeface="Times New Roman" panose="02020603050405020304" pitchFamily="18" charset="0"/>
              </a:rPr>
              <a:t>: Node.js server with database for real-time data management, forecasting ML model integration.</a:t>
            </a:r>
          </a:p>
          <a:p>
            <a:pPr algn="ctr"/>
            <a:r>
              <a:rPr lang="en-US" b="1" dirty="0">
                <a:latin typeface="Times New Roman" panose="02020603050405020304" pitchFamily="18" charset="0"/>
                <a:cs typeface="Times New Roman" panose="02020603050405020304" pitchFamily="18" charset="0"/>
              </a:rPr>
              <a:t>Frontend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web app and React </a:t>
            </a:r>
            <a:r>
              <a:rPr lang="en-US" dirty="0" err="1">
                <a:latin typeface="Times New Roman" panose="02020603050405020304" pitchFamily="18" charset="0"/>
                <a:cs typeface="Times New Roman" panose="02020603050405020304" pitchFamily="18" charset="0"/>
              </a:rPr>
              <a:t>js</a:t>
            </a:r>
            <a:r>
              <a:rPr lang="en-US" dirty="0">
                <a:latin typeface="Times New Roman" panose="02020603050405020304" pitchFamily="18" charset="0"/>
                <a:cs typeface="Times New Roman" panose="02020603050405020304" pitchFamily="18" charset="0"/>
              </a:rPr>
              <a:t> to provide interactive maps, trend graphs, and health advisory dashboards.</a:t>
            </a:r>
          </a:p>
          <a:p>
            <a:pPr algn="ctr"/>
            <a:endParaRPr lang="en-US"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Forecasting</a:t>
            </a:r>
            <a:r>
              <a:rPr lang="en-US" dirty="0">
                <a:latin typeface="Times New Roman" panose="02020603050405020304" pitchFamily="18" charset="0"/>
                <a:cs typeface="Times New Roman" panose="02020603050405020304" pitchFamily="18" charset="0"/>
              </a:rPr>
              <a:t>: ML models (Random Forest) for predicting 24–72-hour AQI trends using weather and historical data. </a:t>
            </a:r>
          </a:p>
          <a:p>
            <a:pPr algn="ctr"/>
            <a:endParaRPr lang="en-US" dirty="0">
              <a:solidFill>
                <a:srgbClr val="FF0000"/>
              </a:solidFill>
              <a:latin typeface="Times New Roman" panose="02020603050405020304" pitchFamily="18" charset="0"/>
              <a:cs typeface="Times New Roman" panose="02020603050405020304" pitchFamily="18" charset="0"/>
            </a:endParaRPr>
          </a:p>
          <a:p>
            <a:pPr algn="ctr"/>
            <a:r>
              <a:rPr lang="en-US" b="1" dirty="0">
                <a:solidFill>
                  <a:srgbClr val="FF0000"/>
                </a:solidFill>
                <a:latin typeface="Times New Roman" panose="02020603050405020304" pitchFamily="18" charset="0"/>
                <a:cs typeface="Times New Roman" panose="02020603050405020304" pitchFamily="18" charset="0"/>
              </a:rPr>
              <a:t>Expected Outcome </a:t>
            </a:r>
          </a:p>
          <a:p>
            <a:pPr algn="ctr"/>
            <a:r>
              <a:rPr lang="en-US" dirty="0">
                <a:latin typeface="Times New Roman" panose="02020603050405020304" pitchFamily="18" charset="0"/>
                <a:cs typeface="Times New Roman" panose="02020603050405020304" pitchFamily="18" charset="0"/>
              </a:rPr>
              <a:t>Real-time, hyperlocal air quality visualization across urban and rural regions. </a:t>
            </a:r>
          </a:p>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Predictive pollution forecasts enabling proactive health protection.</a:t>
            </a:r>
          </a:p>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 Personalized health recommendations and push alerts for pollution spikes. </a:t>
            </a:r>
          </a:p>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Open, extendable platform supporting integration with external systems and policymaking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C86B9-E3F3-3270-21F8-EA71112C14A1}"/>
              </a:ext>
            </a:extLst>
          </p:cNvPr>
          <p:cNvSpPr>
            <a:spLocks noGrp="1"/>
          </p:cNvSpPr>
          <p:nvPr>
            <p:ph type="title"/>
          </p:nvPr>
        </p:nvSpPr>
        <p:spPr>
          <a:xfrm>
            <a:off x="2206363" y="253699"/>
            <a:ext cx="10329333" cy="716645"/>
          </a:xfrm>
        </p:spPr>
        <p:txBody>
          <a:bodyPr>
            <a:noAutofit/>
          </a:bodyPr>
          <a:lstStyle/>
          <a:p>
            <a:r>
              <a:rPr lang="en-US" altLang="zh-CN" sz="2800" b="1" dirty="0">
                <a:solidFill>
                  <a:srgbClr val="000000"/>
                </a:solidFill>
                <a:latin typeface="Arial" panose="020B0604020202020204" pitchFamily="34" charset="0"/>
                <a:ea typeface="Times New Roman" panose="02020603050405020304"/>
                <a:cs typeface="Arial" panose="020B0604020202020204" pitchFamily="34" charset="0"/>
              </a:rPr>
              <a:t>Title of Research Paper, Literature Review, Research Gap</a:t>
            </a:r>
            <a:br>
              <a:rPr lang="en-US" altLang="zh-CN" sz="2800" b="1" dirty="0">
                <a:solidFill>
                  <a:srgbClr val="000000"/>
                </a:solidFill>
                <a:latin typeface="Arial" panose="020B0604020202020204" pitchFamily="34" charset="0"/>
                <a:ea typeface="Times New Roman" panose="02020603050405020304"/>
                <a:cs typeface="Arial" panose="020B0604020202020204" pitchFamily="34" charset="0"/>
              </a:rPr>
            </a:br>
            <a:endParaRPr lang="en-US" sz="28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A3F67D8-CC36-37D2-5566-7407A786F924}"/>
              </a:ext>
            </a:extLst>
          </p:cNvPr>
          <p:cNvSpPr>
            <a:spLocks noGrp="1"/>
          </p:cNvSpPr>
          <p:nvPr>
            <p:ph sz="half" idx="1"/>
          </p:nvPr>
        </p:nvSpPr>
        <p:spPr>
          <a:xfrm>
            <a:off x="2438399" y="905932"/>
            <a:ext cx="9584268" cy="5850467"/>
          </a:xfrm>
        </p:spPr>
        <p:txBody>
          <a:bodyPr>
            <a:noAutofit/>
          </a:bodyPr>
          <a:lstStyle/>
          <a:p>
            <a:pPr marL="0" indent="0" algn="ctr">
              <a:buNone/>
            </a:pPr>
            <a:r>
              <a:rPr lang="en-US" sz="1200" b="1" dirty="0">
                <a:latin typeface="Times New Roman" panose="02020603050405020304" pitchFamily="18" charset="0"/>
                <a:cs typeface="Times New Roman" panose="02020603050405020304" pitchFamily="18" charset="0"/>
              </a:rPr>
              <a:t>Title of the Research paper:  </a:t>
            </a:r>
          </a:p>
          <a:p>
            <a:pPr marL="0" indent="0" algn="ctr">
              <a:buNone/>
            </a:pPr>
            <a:r>
              <a:rPr lang="en-US" sz="1200" dirty="0">
                <a:latin typeface="Times New Roman" panose="02020603050405020304" pitchFamily="18" charset="0"/>
                <a:cs typeface="Times New Roman" panose="02020603050405020304" pitchFamily="18" charset="0"/>
              </a:rPr>
              <a:t>A Hybrid, Data-Transparent Air Quality Forecasting Platform for India’s Underserved Regions**</a:t>
            </a:r>
          </a:p>
          <a:p>
            <a:pPr marL="0" indent="0" algn="ctr">
              <a:buNone/>
            </a:pPr>
            <a:r>
              <a:rPr lang="en-US" sz="1200" b="1" dirty="0">
                <a:latin typeface="Times New Roman" panose="02020603050405020304" pitchFamily="18" charset="0"/>
                <a:cs typeface="Times New Roman" panose="02020603050405020304" pitchFamily="18" charset="0"/>
              </a:rPr>
              <a:t>Literature Review &amp; Project Gaps:</a:t>
            </a:r>
          </a:p>
          <a:p>
            <a:pPr marL="0" indent="0" algn="ctr">
              <a:buNone/>
            </a:pPr>
            <a:r>
              <a:rPr lang="en-US" sz="1200" dirty="0">
                <a:latin typeface="Times New Roman" panose="02020603050405020304" pitchFamily="18" charset="0"/>
                <a:cs typeface="Times New Roman" panose="02020603050405020304" pitchFamily="18" charset="0"/>
              </a:rPr>
              <a:t>Recent work  exposes major quality issues in Indian  including unit errors (NOx in ppb/</a:t>
            </a:r>
            <a:r>
              <a:rPr lang="en-US" sz="1200" dirty="0" err="1">
                <a:latin typeface="Times New Roman" panose="02020603050405020304" pitchFamily="18" charset="0"/>
                <a:cs typeface="Times New Roman" panose="02020603050405020304" pitchFamily="18" charset="0"/>
              </a:rPr>
              <a:t>μg</a:t>
            </a:r>
            <a:r>
              <a:rPr lang="en-US" sz="1200" dirty="0">
                <a:latin typeface="Times New Roman" panose="02020603050405020304" pitchFamily="18" charset="0"/>
                <a:cs typeface="Times New Roman" panose="02020603050405020304" pitchFamily="18" charset="0"/>
              </a:rPr>
              <a:t>/m³), stuck values, and unflagged outliers. Most solutions lack data cleaning, transparency, or health-centric reporting.</a:t>
            </a:r>
          </a:p>
          <a:p>
            <a:pPr marL="0" indent="0" algn="ctr">
              <a:buNone/>
            </a:pPr>
            <a:r>
              <a:rPr lang="en-US" sz="1200" dirty="0">
                <a:latin typeface="Times New Roman" panose="02020603050405020304" pitchFamily="18" charset="0"/>
                <a:cs typeface="Times New Roman" panose="02020603050405020304" pitchFamily="18" charset="0"/>
              </a:rPr>
              <a:t>Standard machine learning models fail to consider local factors (traffic, industry, burning), reducing forecast accuracy.</a:t>
            </a:r>
          </a:p>
          <a:p>
            <a:pPr marL="0" indent="0" algn="ctr">
              <a:buNone/>
            </a:pPr>
            <a:r>
              <a:rPr lang="en-US" sz="1200" dirty="0">
                <a:latin typeface="Times New Roman" panose="02020603050405020304" pitchFamily="18" charset="0"/>
                <a:cs typeface="Times New Roman" panose="02020603050405020304" pitchFamily="18" charset="0"/>
              </a:rPr>
              <a:t>India’s monitoring network covers less than 53% of the population; rural/small towns lack AQ data. Policy and progress are skewed toward wealthier, PM10-focused areas.</a:t>
            </a:r>
          </a:p>
          <a:p>
            <a:pPr marL="0" indent="0" algn="ctr">
              <a:buNone/>
            </a:pPr>
            <a:r>
              <a:rPr lang="en-US" sz="1200" dirty="0">
                <a:latin typeface="Times New Roman" panose="02020603050405020304" pitchFamily="18" charset="0"/>
                <a:cs typeface="Times New Roman" panose="02020603050405020304" pitchFamily="18" charset="0"/>
              </a:rPr>
              <a:t>Many apps present raw AQ data but lack personalized, actionable health advice and clear data confidence indicators.</a:t>
            </a:r>
          </a:p>
          <a:p>
            <a:pPr marL="0" indent="0" algn="ctr">
              <a:buNone/>
            </a:pPr>
            <a:r>
              <a:rPr lang="en-US" sz="1200" b="1" dirty="0">
                <a:latin typeface="Times New Roman" panose="02020603050405020304" pitchFamily="18" charset="0"/>
                <a:cs typeface="Times New Roman" panose="02020603050405020304" pitchFamily="18" charset="0"/>
              </a:rPr>
              <a:t>Our Project Responds With:</a:t>
            </a:r>
          </a:p>
          <a:p>
            <a:pPr marL="0" indent="0" algn="ctr">
              <a:buNone/>
            </a:pPr>
            <a:r>
              <a:rPr lang="en-US" sz="1200" dirty="0">
                <a:latin typeface="Times New Roman" panose="02020603050405020304" pitchFamily="18" charset="0"/>
                <a:cs typeface="Times New Roman" panose="02020603050405020304" pitchFamily="18" charset="0"/>
              </a:rPr>
              <a:t>Robust backend data cleaning (unit corrections, streak/outlier flagging, data confidence scores).</a:t>
            </a:r>
          </a:p>
          <a:p>
            <a:pPr marL="0" indent="0" algn="ctr">
              <a:buNone/>
            </a:pPr>
            <a:r>
              <a:rPr lang="en-US" sz="1200" dirty="0">
                <a:latin typeface="Times New Roman" panose="02020603050405020304" pitchFamily="18" charset="0"/>
                <a:cs typeface="Times New Roman" panose="02020603050405020304" pitchFamily="18" charset="0"/>
              </a:rPr>
              <a:t>Hybrid visualization: blends satellite, ground, and modeled AQ data, with equity overlays.</a:t>
            </a:r>
          </a:p>
          <a:p>
            <a:pPr marL="0" indent="0" algn="ctr">
              <a:buNone/>
            </a:pPr>
            <a:r>
              <a:rPr lang="en-US" sz="1200" dirty="0">
                <a:latin typeface="Times New Roman" panose="02020603050405020304" pitchFamily="18" charset="0"/>
                <a:cs typeface="Times New Roman" panose="02020603050405020304" pitchFamily="18" charset="0"/>
              </a:rPr>
              <a:t>Contextualized ML prediction using external drivers (industry, traffic, burning) for 24–72 hour AQI forecasts.</a:t>
            </a:r>
          </a:p>
          <a:p>
            <a:pPr marL="0" indent="0" algn="ctr">
              <a:buNone/>
            </a:pPr>
            <a:r>
              <a:rPr lang="en-US" sz="1200" dirty="0">
                <a:latin typeface="Times New Roman" panose="02020603050405020304" pitchFamily="18" charset="0"/>
                <a:cs typeface="Times New Roman" panose="02020603050405020304" pitchFamily="18" charset="0"/>
              </a:rPr>
              <a:t>User-focused design: health risk insights, intuitive visualizations (analogies, infographics), and hyperlocal data for planning.</a:t>
            </a:r>
          </a:p>
          <a:p>
            <a:pPr marL="0" indent="0" algn="ctr">
              <a:buNone/>
            </a:pPr>
            <a:r>
              <a:rPr lang="en-US" sz="1200" b="1" dirty="0">
                <a:latin typeface="Times New Roman" panose="02020603050405020304" pitchFamily="18" charset="0"/>
                <a:cs typeface="Times New Roman" panose="02020603050405020304" pitchFamily="18" charset="0"/>
              </a:rPr>
              <a:t>References: </a:t>
            </a:r>
          </a:p>
          <a:p>
            <a:pPr marL="0" indent="0" algn="ctr">
              <a:buNone/>
            </a:pPr>
            <a:r>
              <a:rPr lang="en-US" sz="1200" dirty="0">
                <a:latin typeface="Times New Roman" panose="02020603050405020304" pitchFamily="18" charset="0"/>
                <a:cs typeface="Times New Roman" panose="02020603050405020304" pitchFamily="18" charset="0"/>
              </a:rPr>
              <a:t>[Vohra et al., 2024, ScienceDirect]:</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u="sng" dirty="0">
                <a:solidFill>
                  <a:srgbClr val="FF0000"/>
                </a:solidFill>
                <a:latin typeface="Times New Roman" panose="02020603050405020304" pitchFamily="18" charset="0"/>
                <a:cs typeface="Times New Roman" panose="02020603050405020304" pitchFamily="18" charset="0"/>
              </a:rPr>
              <a:t>https://www.sciencedirect.com/science/article/pii/S2590162124000753</a:t>
            </a:r>
            <a:r>
              <a:rPr lang="en-US" sz="1200" dirty="0">
                <a:latin typeface="Times New Roman" panose="02020603050405020304" pitchFamily="18" charset="0"/>
                <a:cs typeface="Times New Roman" panose="02020603050405020304" pitchFamily="18" charset="0"/>
              </a:rPr>
              <a:t>)  </a:t>
            </a:r>
          </a:p>
          <a:p>
            <a:pPr marL="0" indent="0" algn="ctr">
              <a:buNone/>
            </a:pPr>
            <a:r>
              <a:rPr lang="en-US" sz="1200" dirty="0">
                <a:latin typeface="Times New Roman" panose="02020603050405020304" pitchFamily="18" charset="0"/>
                <a:cs typeface="Times New Roman" panose="02020603050405020304" pitchFamily="18" charset="0"/>
              </a:rPr>
              <a:t>[Ganguli et al., 2024, ACM DL]: </a:t>
            </a:r>
            <a:r>
              <a:rPr lang="en-US" sz="1200" b="1" u="sng" dirty="0">
                <a:solidFill>
                  <a:srgbClr val="FF0000"/>
                </a:solidFill>
                <a:latin typeface="Times New Roman" panose="02020603050405020304" pitchFamily="18" charset="0"/>
                <a:cs typeface="Times New Roman" panose="02020603050405020304" pitchFamily="18" charset="0"/>
              </a:rPr>
              <a:t>https://dl.acm.org/doi/full/10.1145/3700838.3703681</a:t>
            </a:r>
            <a:r>
              <a:rPr lang="en-US" sz="1200" dirty="0">
                <a:latin typeface="Times New Roman" panose="02020603050405020304" pitchFamily="18" charset="0"/>
                <a:cs typeface="Times New Roman" panose="02020603050405020304" pitchFamily="18" charset="0"/>
              </a:rPr>
              <a:t>  </a:t>
            </a:r>
          </a:p>
          <a:p>
            <a:pPr marL="0" indent="0" algn="ctr">
              <a:buNone/>
            </a:pPr>
            <a:r>
              <a:rPr lang="en-US" sz="1200" dirty="0">
                <a:latin typeface="Times New Roman" panose="02020603050405020304" pitchFamily="18" charset="0"/>
                <a:cs typeface="Times New Roman" panose="02020603050405020304" pitchFamily="18" charset="0"/>
              </a:rPr>
              <a:t>[CSE Report, 2024] : </a:t>
            </a:r>
            <a:r>
              <a:rPr lang="en-US" sz="1200" b="1" u="sng" dirty="0">
                <a:solidFill>
                  <a:srgbClr val="FF0000"/>
                </a:solidFill>
                <a:latin typeface="Times New Roman" panose="02020603050405020304" pitchFamily="18" charset="0"/>
                <a:cs typeface="Times New Roman" panose="02020603050405020304" pitchFamily="18" charset="0"/>
              </a:rPr>
              <a:t>https://www.cseindia.org/Note-AQM-Network-analysis.pdf</a:t>
            </a:r>
            <a:r>
              <a:rPr lang="en-US" sz="1200" dirty="0">
                <a:latin typeface="Times New Roman" panose="02020603050405020304" pitchFamily="18" charset="0"/>
                <a:cs typeface="Times New Roman" panose="02020603050405020304" pitchFamily="18" charset="0"/>
              </a:rPr>
              <a:t>  </a:t>
            </a:r>
          </a:p>
          <a:p>
            <a:pPr marL="0" indent="0" algn="ctr">
              <a:buNone/>
            </a:pPr>
            <a:r>
              <a:rPr lang="en-US" sz="1200" dirty="0">
                <a:latin typeface="Times New Roman" panose="02020603050405020304" pitchFamily="18" charset="0"/>
                <a:cs typeface="Times New Roman" panose="02020603050405020304" pitchFamily="18" charset="0"/>
              </a:rPr>
              <a:t>[CREA NCAP, 2025]: </a:t>
            </a:r>
            <a:r>
              <a:rPr lang="en-US" sz="1200" b="1" u="sng" dirty="0">
                <a:solidFill>
                  <a:srgbClr val="FF0000"/>
                </a:solidFill>
                <a:latin typeface="Times New Roman" panose="02020603050405020304" pitchFamily="18" charset="0"/>
                <a:cs typeface="Times New Roman" panose="02020603050405020304" pitchFamily="18" charset="0"/>
              </a:rPr>
              <a:t>https://energyandcleanair.org/publication/tracing-the-hazy-air-2025-progress-report-on-national-clean-air-programme-ncap/</a:t>
            </a:r>
          </a:p>
        </p:txBody>
      </p:sp>
      <p:sp>
        <p:nvSpPr>
          <p:cNvPr id="5" name="Slide Number Placeholder 4">
            <a:extLst>
              <a:ext uri="{FF2B5EF4-FFF2-40B4-BE49-F238E27FC236}">
                <a16:creationId xmlns:a16="http://schemas.microsoft.com/office/drawing/2014/main" id="{72467858-DC0A-CC7A-CDCE-8CA22812488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3979890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09DC5-1F04-B5C3-BD5F-AB19893AA0CE}"/>
              </a:ext>
            </a:extLst>
          </p:cNvPr>
          <p:cNvSpPr>
            <a:spLocks noGrp="1"/>
          </p:cNvSpPr>
          <p:nvPr>
            <p:ph type="title"/>
          </p:nvPr>
        </p:nvSpPr>
        <p:spPr>
          <a:xfrm>
            <a:off x="2423591" y="2368243"/>
            <a:ext cx="8911687" cy="1280890"/>
          </a:xfrm>
        </p:spPr>
        <p:txBody>
          <a:bodyPr/>
          <a:lstStyle/>
          <a:p>
            <a:pPr algn="ctr"/>
            <a:r>
              <a:rPr lang="en-US" b="1" dirty="0">
                <a:latin typeface="Times New Roman" panose="02020603050405020304" pitchFamily="18" charset="0"/>
                <a:cs typeface="Times New Roman" panose="02020603050405020304" pitchFamily="18" charset="0"/>
              </a:rPr>
              <a:t>PROGRESS REPORT-II</a:t>
            </a:r>
          </a:p>
        </p:txBody>
      </p:sp>
      <p:sp>
        <p:nvSpPr>
          <p:cNvPr id="5" name="Slide Number Placeholder 4">
            <a:extLst>
              <a:ext uri="{FF2B5EF4-FFF2-40B4-BE49-F238E27FC236}">
                <a16:creationId xmlns:a16="http://schemas.microsoft.com/office/drawing/2014/main" id="{C258C11E-AAC3-39F2-5BE2-23B005C43CD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3422181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2" name="Google Shape;182;p19"/>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PES MODERN COLLEGE OF ENGINEERING, MCA DEPARTMENT, A.Y. 2025-26</a:t>
            </a:r>
            <a:endParaRPr dirty="0">
              <a:latin typeface="Times New Roman" panose="02020603050405020304" pitchFamily="18" charset="0"/>
              <a:cs typeface="Times New Roman" panose="02020603050405020304" pitchFamily="18" charset="0"/>
            </a:endParaRPr>
          </a:p>
        </p:txBody>
      </p:sp>
      <p:sp>
        <p:nvSpPr>
          <p:cNvPr id="183" name="Google Shape;183;p1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t>9</a:t>
            </a:fld>
            <a:endParaRPr>
              <a:latin typeface="Times New Roman" panose="02020603050405020304" pitchFamily="18" charset="0"/>
              <a:cs typeface="Times New Roman" panose="02020603050405020304" pitchFamily="18" charset="0"/>
            </a:endParaRPr>
          </a:p>
        </p:txBody>
      </p:sp>
      <p:graphicFrame>
        <p:nvGraphicFramePr>
          <p:cNvPr id="2" name="Table 1"/>
          <p:cNvGraphicFramePr/>
          <p:nvPr>
            <p:custDataLst>
              <p:tags r:id="rId1"/>
            </p:custDataLst>
            <p:extLst>
              <p:ext uri="{D42A27DB-BD31-4B8C-83A1-F6EECF244321}">
                <p14:modId xmlns:p14="http://schemas.microsoft.com/office/powerpoint/2010/main" val="1680973327"/>
              </p:ext>
            </p:extLst>
          </p:nvPr>
        </p:nvGraphicFramePr>
        <p:xfrm>
          <a:off x="1558290" y="1152907"/>
          <a:ext cx="10370820" cy="4164330"/>
        </p:xfrm>
        <a:graphic>
          <a:graphicData uri="http://schemas.openxmlformats.org/drawingml/2006/table">
            <a:tbl>
              <a:tblPr/>
              <a:tblGrid>
                <a:gridCol w="1703070">
                  <a:extLst>
                    <a:ext uri="{9D8B030D-6E8A-4147-A177-3AD203B41FA5}">
                      <a16:colId xmlns:a16="http://schemas.microsoft.com/office/drawing/2014/main" val="20000"/>
                    </a:ext>
                  </a:extLst>
                </a:gridCol>
                <a:gridCol w="8583295">
                  <a:extLst>
                    <a:ext uri="{9D8B030D-6E8A-4147-A177-3AD203B41FA5}">
                      <a16:colId xmlns:a16="http://schemas.microsoft.com/office/drawing/2014/main" val="20001"/>
                    </a:ext>
                  </a:extLst>
                </a:gridCol>
                <a:gridCol w="84455">
                  <a:extLst>
                    <a:ext uri="{9D8B030D-6E8A-4147-A177-3AD203B41FA5}">
                      <a16:colId xmlns:a16="http://schemas.microsoft.com/office/drawing/2014/main" val="20002"/>
                    </a:ext>
                  </a:extLst>
                </a:gridCol>
              </a:tblGrid>
              <a:tr h="694055">
                <a:tc>
                  <a:txBody>
                    <a:bodyPr/>
                    <a:lstStyle/>
                    <a:p>
                      <a:pPr marL="59055" indent="0" algn="ctr">
                        <a:lnSpc>
                          <a:spcPct val="114000"/>
                        </a:lnSpc>
                        <a:spcBef>
                          <a:spcPct val="0"/>
                        </a:spcBef>
                        <a:spcAft>
                          <a:spcPct val="0"/>
                        </a:spcAft>
                      </a:pPr>
                      <a:r>
                        <a:rPr lang="en-US" altLang="zh-CN" sz="2000" b="1">
                          <a:solidFill>
                            <a:srgbClr val="000000"/>
                          </a:solidFill>
                          <a:latin typeface="Times New Roman" panose="02020603050405020304"/>
                          <a:ea typeface="Times New Roman" panose="02020603050405020304"/>
                        </a:rPr>
                        <a:t>SR.NO</a:t>
                      </a:r>
                    </a:p>
                  </a:txBody>
                  <a:tcPr marL="68580" marR="68580" marT="0" marB="0" anchor="b">
                    <a:lnL>
                      <a:noFill/>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solidFill>
                      <a:srgbClr val="FFFF00"/>
                    </a:solidFill>
                  </a:tcPr>
                </a:tc>
                <a:tc>
                  <a:txBody>
                    <a:bodyPr/>
                    <a:lstStyle/>
                    <a:p>
                      <a:pPr marL="59055" indent="0" algn="ctr">
                        <a:lnSpc>
                          <a:spcPct val="114000"/>
                        </a:lnSpc>
                        <a:spcBef>
                          <a:spcPct val="0"/>
                        </a:spcBef>
                        <a:spcAft>
                          <a:spcPct val="0"/>
                        </a:spcAft>
                      </a:pPr>
                      <a:r>
                        <a:rPr lang="en-US" altLang="zh-CN" sz="2000" b="1" dirty="0">
                          <a:solidFill>
                            <a:srgbClr val="000000"/>
                          </a:solidFill>
                          <a:latin typeface="Times New Roman" panose="02020603050405020304"/>
                          <a:ea typeface="Times New Roman" panose="02020603050405020304"/>
                        </a:rPr>
                        <a:t>Progress Report 2</a:t>
                      </a: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solidFill>
                      <a:srgbClr val="FFFF00"/>
                    </a:solidFill>
                  </a:tcPr>
                </a:tc>
                <a:tc>
                  <a:txBody>
                    <a:bodyPr/>
                    <a:lstStyle/>
                    <a:p>
                      <a:endParaRPr/>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0"/>
                  </a:ext>
                </a:extLst>
              </a:tr>
              <a:tr h="694055">
                <a:tc>
                  <a:txBody>
                    <a:bodyPr/>
                    <a:lstStyle/>
                    <a:p>
                      <a:pPr marL="59055" indent="0" algn="ctr">
                        <a:lnSpc>
                          <a:spcPct val="114000"/>
                        </a:lnSpc>
                        <a:spcBef>
                          <a:spcPct val="0"/>
                        </a:spcBef>
                        <a:spcAft>
                          <a:spcPct val="0"/>
                        </a:spcAft>
                      </a:pPr>
                      <a:r>
                        <a:rPr lang="en-US" altLang="zh-CN" sz="2000">
                          <a:solidFill>
                            <a:srgbClr val="000000"/>
                          </a:solidFill>
                          <a:latin typeface="Times New Roman" panose="02020603050405020304"/>
                          <a:ea typeface="Times New Roman" panose="02020603050405020304"/>
                        </a:rPr>
                        <a:t>1</a:t>
                      </a:r>
                    </a:p>
                  </a:txBody>
                  <a:tcPr marL="68580" marR="68580" marT="0" marB="0" anchor="b">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59055" indent="0">
                        <a:lnSpc>
                          <a:spcPct val="114000"/>
                        </a:lnSpc>
                        <a:spcBef>
                          <a:spcPct val="0"/>
                        </a:spcBef>
                        <a:spcAft>
                          <a:spcPct val="0"/>
                        </a:spcAft>
                      </a:pPr>
                      <a:r>
                        <a:rPr lang="en-US" altLang="zh-CN" sz="2000" dirty="0">
                          <a:solidFill>
                            <a:srgbClr val="000000"/>
                          </a:solidFill>
                          <a:latin typeface="Times New Roman" panose="02020603050405020304"/>
                          <a:ea typeface="Times New Roman" panose="02020603050405020304"/>
                        </a:rPr>
                        <a:t>ERD &amp; </a:t>
                      </a:r>
                      <a:r>
                        <a:rPr lang="en-US" altLang="zh-CN" sz="2000" dirty="0" err="1">
                          <a:solidFill>
                            <a:srgbClr val="000000"/>
                          </a:solidFill>
                          <a:latin typeface="Times New Roman" panose="02020603050405020304"/>
                          <a:ea typeface="Times New Roman" panose="02020603050405020304"/>
                        </a:rPr>
                        <a:t>UMLDiagram</a:t>
                      </a:r>
                      <a:r>
                        <a:rPr lang="en-US" altLang="zh-CN" sz="2000" dirty="0">
                          <a:solidFill>
                            <a:srgbClr val="000000"/>
                          </a:solidFill>
                          <a:latin typeface="Times New Roman" panose="02020603050405020304"/>
                          <a:ea typeface="Times New Roman" panose="02020603050405020304"/>
                        </a:rPr>
                        <a:t> (As Per Problem statement)</a:t>
                      </a: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endParaRPr/>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1"/>
                  </a:ext>
                </a:extLst>
              </a:tr>
              <a:tr h="694055">
                <a:tc>
                  <a:txBody>
                    <a:bodyPr/>
                    <a:lstStyle/>
                    <a:p>
                      <a:pPr marL="59055" indent="0" algn="ctr">
                        <a:lnSpc>
                          <a:spcPct val="114000"/>
                        </a:lnSpc>
                        <a:spcBef>
                          <a:spcPct val="0"/>
                        </a:spcBef>
                        <a:spcAft>
                          <a:spcPct val="0"/>
                        </a:spcAft>
                      </a:pPr>
                      <a:r>
                        <a:rPr lang="en-US" altLang="zh-CN" sz="2000">
                          <a:solidFill>
                            <a:srgbClr val="000000"/>
                          </a:solidFill>
                          <a:latin typeface="Times New Roman" panose="02020603050405020304"/>
                          <a:ea typeface="Times New Roman" panose="02020603050405020304"/>
                        </a:rPr>
                        <a:t>2</a:t>
                      </a:r>
                    </a:p>
                  </a:txBody>
                  <a:tcPr marL="68580" marR="68580" marT="0" marB="0" anchor="b">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59055" indent="0">
                        <a:lnSpc>
                          <a:spcPct val="114000"/>
                        </a:lnSpc>
                        <a:spcBef>
                          <a:spcPct val="0"/>
                        </a:spcBef>
                        <a:spcAft>
                          <a:spcPct val="0"/>
                        </a:spcAft>
                      </a:pPr>
                      <a:r>
                        <a:rPr lang="en-US" altLang="zh-CN" sz="2000" dirty="0">
                          <a:solidFill>
                            <a:srgbClr val="000000"/>
                          </a:solidFill>
                          <a:latin typeface="Times New Roman" panose="02020603050405020304"/>
                          <a:ea typeface="Times New Roman" panose="02020603050405020304"/>
                        </a:rPr>
                        <a:t>Database Design with proper key definition</a:t>
                      </a: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endParaRPr/>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2"/>
                  </a:ext>
                </a:extLst>
              </a:tr>
              <a:tr h="694055">
                <a:tc>
                  <a:txBody>
                    <a:bodyPr/>
                    <a:lstStyle/>
                    <a:p>
                      <a:pPr marL="59055" indent="0" algn="ctr">
                        <a:lnSpc>
                          <a:spcPct val="114000"/>
                        </a:lnSpc>
                        <a:spcBef>
                          <a:spcPct val="0"/>
                        </a:spcBef>
                        <a:spcAft>
                          <a:spcPct val="0"/>
                        </a:spcAft>
                      </a:pPr>
                      <a:r>
                        <a:rPr lang="en-US" altLang="zh-CN" sz="2000">
                          <a:solidFill>
                            <a:srgbClr val="000000"/>
                          </a:solidFill>
                          <a:latin typeface="Times New Roman" panose="02020603050405020304"/>
                          <a:ea typeface="Times New Roman" panose="02020603050405020304"/>
                        </a:rPr>
                        <a:t>3</a:t>
                      </a:r>
                    </a:p>
                  </a:txBody>
                  <a:tcPr marL="68580" marR="68580" marT="0" marB="0" anchor="b">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59055" indent="0">
                        <a:lnSpc>
                          <a:spcPct val="114000"/>
                        </a:lnSpc>
                        <a:spcBef>
                          <a:spcPct val="0"/>
                        </a:spcBef>
                        <a:spcAft>
                          <a:spcPct val="0"/>
                        </a:spcAft>
                      </a:pPr>
                      <a:r>
                        <a:rPr lang="en-US" altLang="zh-CN" sz="2000" dirty="0">
                          <a:solidFill>
                            <a:srgbClr val="000000"/>
                          </a:solidFill>
                          <a:latin typeface="Times New Roman" panose="02020603050405020304"/>
                          <a:ea typeface="Times New Roman" panose="02020603050405020304"/>
                        </a:rPr>
                        <a:t>Data Dictionary, Flow chart</a:t>
                      </a: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endParaRPr/>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3"/>
                  </a:ext>
                </a:extLst>
              </a:tr>
              <a:tr h="694055">
                <a:tc>
                  <a:txBody>
                    <a:bodyPr/>
                    <a:lstStyle/>
                    <a:p>
                      <a:pPr marL="59055" indent="0" algn="ctr">
                        <a:lnSpc>
                          <a:spcPct val="114000"/>
                        </a:lnSpc>
                        <a:spcBef>
                          <a:spcPct val="0"/>
                        </a:spcBef>
                        <a:spcAft>
                          <a:spcPct val="0"/>
                        </a:spcAft>
                      </a:pPr>
                      <a:r>
                        <a:rPr lang="en-US" altLang="zh-CN" sz="2000">
                          <a:solidFill>
                            <a:srgbClr val="000000"/>
                          </a:solidFill>
                          <a:latin typeface="Times New Roman" panose="02020603050405020304"/>
                          <a:ea typeface="Times New Roman" panose="02020603050405020304"/>
                        </a:rPr>
                        <a:t>4</a:t>
                      </a:r>
                    </a:p>
                  </a:txBody>
                  <a:tcPr marL="68580" marR="68580" marT="0" marB="0" anchor="b">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59055" indent="0">
                        <a:lnSpc>
                          <a:spcPct val="114000"/>
                        </a:lnSpc>
                        <a:spcBef>
                          <a:spcPct val="0"/>
                        </a:spcBef>
                        <a:spcAft>
                          <a:spcPct val="0"/>
                        </a:spcAft>
                      </a:pPr>
                      <a:r>
                        <a:rPr lang="en-US" altLang="zh-CN" sz="2000" dirty="0">
                          <a:solidFill>
                            <a:srgbClr val="000000"/>
                          </a:solidFill>
                          <a:latin typeface="Times New Roman" panose="02020603050405020304"/>
                          <a:ea typeface="Times New Roman" panose="02020603050405020304"/>
                        </a:rPr>
                        <a:t>Project Plan</a:t>
                      </a: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endParaRPr/>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4"/>
                  </a:ext>
                </a:extLst>
              </a:tr>
              <a:tr h="694055">
                <a:tc>
                  <a:txBody>
                    <a:bodyPr/>
                    <a:lstStyle/>
                    <a:p>
                      <a:pPr marL="59055" indent="0" algn="ctr">
                        <a:lnSpc>
                          <a:spcPct val="114000"/>
                        </a:lnSpc>
                        <a:spcBef>
                          <a:spcPct val="0"/>
                        </a:spcBef>
                        <a:spcAft>
                          <a:spcPct val="0"/>
                        </a:spcAft>
                      </a:pPr>
                      <a:r>
                        <a:rPr lang="en-US" altLang="zh-CN" sz="2000" dirty="0">
                          <a:solidFill>
                            <a:srgbClr val="000000"/>
                          </a:solidFill>
                          <a:latin typeface="Times New Roman" panose="02020603050405020304"/>
                          <a:ea typeface="Times New Roman" panose="02020603050405020304"/>
                        </a:rPr>
                        <a:t>5</a:t>
                      </a:r>
                    </a:p>
                  </a:txBody>
                  <a:tcPr marL="68580" marR="68580" marT="0" marB="0" anchor="b">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59055" indent="0">
                        <a:lnSpc>
                          <a:spcPct val="114000"/>
                        </a:lnSpc>
                        <a:spcBef>
                          <a:spcPct val="0"/>
                        </a:spcBef>
                        <a:spcAft>
                          <a:spcPct val="0"/>
                        </a:spcAft>
                      </a:pPr>
                      <a:r>
                        <a:rPr lang="en-US" altLang="zh-CN" sz="2000" dirty="0">
                          <a:solidFill>
                            <a:srgbClr val="000000"/>
                          </a:solidFill>
                          <a:latin typeface="Times New Roman" panose="02020603050405020304"/>
                          <a:ea typeface="Times New Roman" panose="02020603050405020304"/>
                        </a:rPr>
                        <a:t>Synopsis of Research Project and Paper </a:t>
                      </a: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endParaRPr dirty="0"/>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E82D8-BB24-E19A-6449-09D00D06F3C1}"/>
              </a:ext>
            </a:extLst>
          </p:cNvPr>
          <p:cNvSpPr>
            <a:spLocks noGrp="1"/>
          </p:cNvSpPr>
          <p:nvPr>
            <p:ph type="title"/>
          </p:nvPr>
        </p:nvSpPr>
        <p:spPr>
          <a:xfrm>
            <a:off x="1703465" y="512462"/>
            <a:ext cx="10666055" cy="1280890"/>
          </a:xfrm>
        </p:spPr>
        <p:txBody>
          <a:bodyPr>
            <a:normAutofit fontScale="90000"/>
          </a:bodyPr>
          <a:lstStyle/>
          <a:p>
            <a:r>
              <a:rPr lang="en-US" altLang="zh-CN" dirty="0">
                <a:solidFill>
                  <a:srgbClr val="000000"/>
                </a:solidFill>
                <a:latin typeface="Times New Roman" panose="02020603050405020304"/>
                <a:ea typeface="Times New Roman" panose="02020603050405020304"/>
              </a:rPr>
              <a:t>ERD &amp; State </a:t>
            </a:r>
            <a:r>
              <a:rPr lang="en-US" altLang="zh-CN" dirty="0" err="1">
                <a:solidFill>
                  <a:srgbClr val="000000"/>
                </a:solidFill>
                <a:latin typeface="Times New Roman" panose="02020603050405020304"/>
                <a:ea typeface="Times New Roman" panose="02020603050405020304"/>
              </a:rPr>
              <a:t>Transistion</a:t>
            </a:r>
            <a:r>
              <a:rPr lang="en-US" altLang="zh-CN" dirty="0">
                <a:solidFill>
                  <a:srgbClr val="000000"/>
                </a:solidFill>
                <a:latin typeface="Times New Roman" panose="02020603050405020304"/>
                <a:ea typeface="Times New Roman" panose="02020603050405020304"/>
              </a:rPr>
              <a:t> Diagram (As Per Problem statement)</a:t>
            </a:r>
            <a:br>
              <a:rPr lang="en-US" altLang="zh-CN" dirty="0">
                <a:solidFill>
                  <a:srgbClr val="000000"/>
                </a:solidFill>
                <a:latin typeface="Times New Roman" panose="02020603050405020304"/>
                <a:ea typeface="Times New Roman" panose="02020603050405020304"/>
              </a:rPr>
            </a:br>
            <a:endParaRPr lang="en-US" dirty="0"/>
          </a:p>
        </p:txBody>
      </p:sp>
      <p:pic>
        <p:nvPicPr>
          <p:cNvPr id="7" name="Content Placeholder 6">
            <a:extLst>
              <a:ext uri="{FF2B5EF4-FFF2-40B4-BE49-F238E27FC236}">
                <a16:creationId xmlns:a16="http://schemas.microsoft.com/office/drawing/2014/main" id="{D6646E99-F414-BA27-2179-04618FBBEAD1}"/>
              </a:ext>
            </a:extLst>
          </p:cNvPr>
          <p:cNvPicPr>
            <a:picLocks noGrp="1" noChangeAspect="1"/>
          </p:cNvPicPr>
          <p:nvPr>
            <p:ph sz="half" idx="1"/>
          </p:nvPr>
        </p:nvPicPr>
        <p:blipFill>
          <a:blip r:embed="rId2"/>
          <a:stretch>
            <a:fillRect/>
          </a:stretch>
        </p:blipFill>
        <p:spPr>
          <a:xfrm>
            <a:off x="1162065" y="1419365"/>
            <a:ext cx="5248784" cy="4742822"/>
          </a:xfrm>
          <a:prstGeom prst="rect">
            <a:avLst/>
          </a:prstGeom>
        </p:spPr>
      </p:pic>
      <p:pic>
        <p:nvPicPr>
          <p:cNvPr id="9" name="Content Placeholder 8">
            <a:extLst>
              <a:ext uri="{FF2B5EF4-FFF2-40B4-BE49-F238E27FC236}">
                <a16:creationId xmlns:a16="http://schemas.microsoft.com/office/drawing/2014/main" id="{B7A1FE74-4DE7-46D4-B292-868808315ABA}"/>
              </a:ext>
            </a:extLst>
          </p:cNvPr>
          <p:cNvPicPr>
            <a:picLocks noGrp="1" noChangeAspect="1"/>
          </p:cNvPicPr>
          <p:nvPr>
            <p:ph sz="half" idx="2"/>
          </p:nvPr>
        </p:nvPicPr>
        <p:blipFill>
          <a:blip r:embed="rId3"/>
          <a:stretch>
            <a:fillRect/>
          </a:stretch>
        </p:blipFill>
        <p:spPr>
          <a:xfrm>
            <a:off x="6310364" y="1387856"/>
            <a:ext cx="5727561" cy="4805841"/>
          </a:xfrm>
          <a:prstGeom prst="rect">
            <a:avLst/>
          </a:prstGeom>
        </p:spPr>
      </p:pic>
      <p:sp>
        <p:nvSpPr>
          <p:cNvPr id="5" name="Slide Number Placeholder 4">
            <a:extLst>
              <a:ext uri="{FF2B5EF4-FFF2-40B4-BE49-F238E27FC236}">
                <a16:creationId xmlns:a16="http://schemas.microsoft.com/office/drawing/2014/main" id="{E50689B2-1A8D-3D90-9AB6-2FF952EFAE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1849410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428A5-B698-B8D7-141F-25D62411C2EA}"/>
              </a:ext>
            </a:extLst>
          </p:cNvPr>
          <p:cNvSpPr>
            <a:spLocks noGrp="1"/>
          </p:cNvSpPr>
          <p:nvPr>
            <p:ph type="title"/>
          </p:nvPr>
        </p:nvSpPr>
        <p:spPr>
          <a:xfrm>
            <a:off x="2635257" y="147337"/>
            <a:ext cx="8911687" cy="1280890"/>
          </a:xfrm>
        </p:spPr>
        <p:txBody>
          <a:bodyPr/>
          <a:lstStyle/>
          <a:p>
            <a:r>
              <a:rPr lang="en-US" altLang="zh-CN" dirty="0">
                <a:solidFill>
                  <a:srgbClr val="000000"/>
                </a:solidFill>
                <a:latin typeface="Times New Roman" panose="02020603050405020304"/>
                <a:ea typeface="Times New Roman" panose="02020603050405020304"/>
              </a:rPr>
              <a:t>Database Design with proper key definition</a:t>
            </a:r>
            <a:br>
              <a:rPr lang="en-US" altLang="zh-CN" dirty="0">
                <a:solidFill>
                  <a:srgbClr val="000000"/>
                </a:solidFill>
                <a:latin typeface="Times New Roman" panose="02020603050405020304"/>
                <a:ea typeface="Times New Roman" panose="02020603050405020304"/>
              </a:rPr>
            </a:br>
            <a:endParaRPr lang="en-US" dirty="0"/>
          </a:p>
        </p:txBody>
      </p:sp>
      <p:sp>
        <p:nvSpPr>
          <p:cNvPr id="5" name="Slide Number Placeholder 4">
            <a:extLst>
              <a:ext uri="{FF2B5EF4-FFF2-40B4-BE49-F238E27FC236}">
                <a16:creationId xmlns:a16="http://schemas.microsoft.com/office/drawing/2014/main" id="{50DF8CA5-24BA-53D6-67A9-9C3EACEF963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15" name="Content Placeholder 14">
            <a:extLst>
              <a:ext uri="{FF2B5EF4-FFF2-40B4-BE49-F238E27FC236}">
                <a16:creationId xmlns:a16="http://schemas.microsoft.com/office/drawing/2014/main" id="{231AE170-19BE-CD77-839A-5F19CB152B47}"/>
              </a:ext>
            </a:extLst>
          </p:cNvPr>
          <p:cNvPicPr>
            <a:picLocks noGrp="1" noChangeAspect="1"/>
          </p:cNvPicPr>
          <p:nvPr>
            <p:ph sz="half" idx="2"/>
          </p:nvPr>
        </p:nvPicPr>
        <p:blipFill>
          <a:blip r:embed="rId2"/>
          <a:stretch>
            <a:fillRect/>
          </a:stretch>
        </p:blipFill>
        <p:spPr>
          <a:xfrm>
            <a:off x="3344335" y="970344"/>
            <a:ext cx="6561666" cy="5327957"/>
          </a:xfrm>
          <a:prstGeom prst="rect">
            <a:avLst/>
          </a:prstGeom>
        </p:spPr>
      </p:pic>
    </p:spTree>
    <p:extLst>
      <p:ext uri="{BB962C8B-B14F-4D97-AF65-F5344CB8AC3E}">
        <p14:creationId xmlns:p14="http://schemas.microsoft.com/office/powerpoint/2010/main" val="2537586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CD270-1921-8955-5FB9-3A273F90A7BA}"/>
              </a:ext>
            </a:extLst>
          </p:cNvPr>
          <p:cNvSpPr>
            <a:spLocks noGrp="1"/>
          </p:cNvSpPr>
          <p:nvPr>
            <p:ph type="title"/>
          </p:nvPr>
        </p:nvSpPr>
        <p:spPr/>
        <p:txBody>
          <a:bodyPr/>
          <a:lstStyle/>
          <a:p>
            <a:pPr algn="ctr"/>
            <a:r>
              <a:rPr lang="en-US" altLang="zh-CN" dirty="0">
                <a:solidFill>
                  <a:srgbClr val="000000"/>
                </a:solidFill>
                <a:latin typeface="Times New Roman" panose="02020603050405020304"/>
                <a:ea typeface="Times New Roman" panose="02020603050405020304"/>
              </a:rPr>
              <a:t>Data Dictionary, Flow chart</a:t>
            </a:r>
            <a:br>
              <a:rPr lang="en-US" altLang="zh-CN" dirty="0">
                <a:solidFill>
                  <a:srgbClr val="000000"/>
                </a:solidFill>
                <a:latin typeface="Times New Roman" panose="02020603050405020304"/>
                <a:ea typeface="Times New Roman" panose="02020603050405020304"/>
              </a:rPr>
            </a:br>
            <a:endParaRPr lang="en-US" dirty="0"/>
          </a:p>
        </p:txBody>
      </p:sp>
      <p:pic>
        <p:nvPicPr>
          <p:cNvPr id="9" name="Content Placeholder 8">
            <a:extLst>
              <a:ext uri="{FF2B5EF4-FFF2-40B4-BE49-F238E27FC236}">
                <a16:creationId xmlns:a16="http://schemas.microsoft.com/office/drawing/2014/main" id="{931BDD27-23C4-9F05-5554-EF99268E5FD4}"/>
              </a:ext>
            </a:extLst>
          </p:cNvPr>
          <p:cNvPicPr>
            <a:picLocks noGrp="1" noChangeAspect="1"/>
          </p:cNvPicPr>
          <p:nvPr>
            <p:ph sz="half" idx="1"/>
          </p:nvPr>
        </p:nvPicPr>
        <p:blipFill>
          <a:blip r:embed="rId2"/>
          <a:stretch>
            <a:fillRect/>
          </a:stretch>
        </p:blipFill>
        <p:spPr>
          <a:xfrm>
            <a:off x="1889091" y="1698171"/>
            <a:ext cx="4511710" cy="3961647"/>
          </a:xfrm>
          <a:prstGeom prst="rect">
            <a:avLst/>
          </a:prstGeom>
        </p:spPr>
      </p:pic>
      <p:pic>
        <p:nvPicPr>
          <p:cNvPr id="7" name="Content Placeholder 6">
            <a:extLst>
              <a:ext uri="{FF2B5EF4-FFF2-40B4-BE49-F238E27FC236}">
                <a16:creationId xmlns:a16="http://schemas.microsoft.com/office/drawing/2014/main" id="{688A4811-9041-49A0-026D-535051D4C1A9}"/>
              </a:ext>
            </a:extLst>
          </p:cNvPr>
          <p:cNvPicPr>
            <a:picLocks noGrp="1" noChangeAspect="1"/>
          </p:cNvPicPr>
          <p:nvPr>
            <p:ph sz="half" idx="2"/>
          </p:nvPr>
        </p:nvPicPr>
        <p:blipFill>
          <a:blip r:embed="rId3"/>
          <a:stretch>
            <a:fillRect/>
          </a:stretch>
        </p:blipFill>
        <p:spPr>
          <a:xfrm>
            <a:off x="6571622" y="1796059"/>
            <a:ext cx="5215093" cy="3700390"/>
          </a:xfrm>
          <a:prstGeom prst="rect">
            <a:avLst/>
          </a:prstGeom>
        </p:spPr>
      </p:pic>
      <p:sp>
        <p:nvSpPr>
          <p:cNvPr id="5" name="Slide Number Placeholder 4">
            <a:extLst>
              <a:ext uri="{FF2B5EF4-FFF2-40B4-BE49-F238E27FC236}">
                <a16:creationId xmlns:a16="http://schemas.microsoft.com/office/drawing/2014/main" id="{DE4C5F57-3EE3-529B-FBEB-05388BC19E8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1297780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70D6B-D751-9A02-B8BE-CFD0596DEF00}"/>
              </a:ext>
            </a:extLst>
          </p:cNvPr>
          <p:cNvSpPr>
            <a:spLocks noGrp="1"/>
          </p:cNvSpPr>
          <p:nvPr>
            <p:ph type="title"/>
          </p:nvPr>
        </p:nvSpPr>
        <p:spPr/>
        <p:txBody>
          <a:bodyPr/>
          <a:lstStyle/>
          <a:p>
            <a:pPr algn="ctr"/>
            <a:r>
              <a:rPr lang="en-US" altLang="zh-CN" dirty="0">
                <a:solidFill>
                  <a:srgbClr val="000000"/>
                </a:solidFill>
                <a:latin typeface="Times New Roman" panose="02020603050405020304"/>
                <a:ea typeface="Times New Roman" panose="02020603050405020304"/>
              </a:rPr>
              <a:t>Project Plan</a:t>
            </a:r>
            <a:br>
              <a:rPr lang="en-US" altLang="zh-CN" dirty="0">
                <a:solidFill>
                  <a:srgbClr val="000000"/>
                </a:solidFill>
                <a:latin typeface="Times New Roman" panose="02020603050405020304"/>
                <a:ea typeface="Times New Roman" panose="02020603050405020304"/>
              </a:rPr>
            </a:br>
            <a:endParaRPr lang="en-US" dirty="0"/>
          </a:p>
        </p:txBody>
      </p:sp>
      <p:graphicFrame>
        <p:nvGraphicFramePr>
          <p:cNvPr id="8" name="Content Placeholder 7">
            <a:extLst>
              <a:ext uri="{FF2B5EF4-FFF2-40B4-BE49-F238E27FC236}">
                <a16:creationId xmlns:a16="http://schemas.microsoft.com/office/drawing/2014/main" id="{28D6CA9E-078E-37A5-5BD8-E8CE9B5B4E40}"/>
              </a:ext>
            </a:extLst>
          </p:cNvPr>
          <p:cNvGraphicFramePr>
            <a:graphicFrameLocks noGrp="1"/>
          </p:cNvGraphicFramePr>
          <p:nvPr>
            <p:ph sz="half" idx="2"/>
            <p:extLst>
              <p:ext uri="{D42A27DB-BD31-4B8C-83A1-F6EECF244321}">
                <p14:modId xmlns:p14="http://schemas.microsoft.com/office/powerpoint/2010/main" val="2447295325"/>
              </p:ext>
            </p:extLst>
          </p:nvPr>
        </p:nvGraphicFramePr>
        <p:xfrm>
          <a:off x="3309938" y="1583267"/>
          <a:ext cx="7129461" cy="3842116"/>
        </p:xfrm>
        <a:graphic>
          <a:graphicData uri="http://schemas.openxmlformats.org/drawingml/2006/table">
            <a:tbl>
              <a:tblPr>
                <a:tableStyleId>{5940675A-B579-460E-94D1-54222C63F5DA}</a:tableStyleId>
              </a:tblPr>
              <a:tblGrid>
                <a:gridCol w="2376487">
                  <a:extLst>
                    <a:ext uri="{9D8B030D-6E8A-4147-A177-3AD203B41FA5}">
                      <a16:colId xmlns:a16="http://schemas.microsoft.com/office/drawing/2014/main" val="760531264"/>
                    </a:ext>
                  </a:extLst>
                </a:gridCol>
                <a:gridCol w="2376487">
                  <a:extLst>
                    <a:ext uri="{9D8B030D-6E8A-4147-A177-3AD203B41FA5}">
                      <a16:colId xmlns:a16="http://schemas.microsoft.com/office/drawing/2014/main" val="2617039076"/>
                    </a:ext>
                  </a:extLst>
                </a:gridCol>
                <a:gridCol w="2376487">
                  <a:extLst>
                    <a:ext uri="{9D8B030D-6E8A-4147-A177-3AD203B41FA5}">
                      <a16:colId xmlns:a16="http://schemas.microsoft.com/office/drawing/2014/main" val="1579598768"/>
                    </a:ext>
                  </a:extLst>
                </a:gridCol>
              </a:tblGrid>
              <a:tr h="339662">
                <a:tc>
                  <a:txBody>
                    <a:bodyPr/>
                    <a:lstStyle/>
                    <a:p>
                      <a:pPr>
                        <a:buNone/>
                      </a:pPr>
                      <a:r>
                        <a:rPr lang="en-US" sz="1400" b="1">
                          <a:solidFill>
                            <a:srgbClr val="FF0000"/>
                          </a:solidFill>
                        </a:rPr>
                        <a:t>Phase</a:t>
                      </a:r>
                      <a:endParaRPr lang="en-US" sz="1400">
                        <a:solidFill>
                          <a:srgbClr val="FF0000"/>
                        </a:solidFill>
                        <a:latin typeface="Times New Roman" panose="02020603050405020304" pitchFamily="18" charset="0"/>
                        <a:cs typeface="Times New Roman" panose="02020603050405020304" pitchFamily="18" charset="0"/>
                      </a:endParaRPr>
                    </a:p>
                  </a:txBody>
                  <a:tcPr marL="73123" marR="73123" marT="36561" marB="36561" anchor="ctr"/>
                </a:tc>
                <a:tc>
                  <a:txBody>
                    <a:bodyPr/>
                    <a:lstStyle/>
                    <a:p>
                      <a:pPr>
                        <a:buNone/>
                      </a:pPr>
                      <a:r>
                        <a:rPr lang="en-US" sz="1400" b="1">
                          <a:solidFill>
                            <a:srgbClr val="FF0000"/>
                          </a:solidFill>
                        </a:rPr>
                        <a:t>Focus Area</a:t>
                      </a:r>
                      <a:endParaRPr lang="en-US" sz="1400">
                        <a:solidFill>
                          <a:srgbClr val="FF0000"/>
                        </a:solidFill>
                        <a:latin typeface="Times New Roman" panose="02020603050405020304" pitchFamily="18" charset="0"/>
                        <a:cs typeface="Times New Roman" panose="02020603050405020304" pitchFamily="18" charset="0"/>
                      </a:endParaRPr>
                    </a:p>
                  </a:txBody>
                  <a:tcPr marL="73123" marR="73123" marT="36561" marB="36561" anchor="ctr"/>
                </a:tc>
                <a:tc>
                  <a:txBody>
                    <a:bodyPr/>
                    <a:lstStyle/>
                    <a:p>
                      <a:pPr>
                        <a:buNone/>
                      </a:pPr>
                      <a:r>
                        <a:rPr lang="en-US" sz="1400" b="1" dirty="0">
                          <a:solidFill>
                            <a:srgbClr val="FF0000"/>
                          </a:solidFill>
                        </a:rPr>
                        <a:t>Key Deliverables</a:t>
                      </a:r>
                      <a:endParaRPr lang="en-US" sz="1400" dirty="0">
                        <a:solidFill>
                          <a:srgbClr val="FF0000"/>
                        </a:solidFill>
                        <a:latin typeface="Times New Roman" panose="02020603050405020304" pitchFamily="18" charset="0"/>
                        <a:cs typeface="Times New Roman" panose="02020603050405020304" pitchFamily="18" charset="0"/>
                      </a:endParaRPr>
                    </a:p>
                  </a:txBody>
                  <a:tcPr marL="73123" marR="73123" marT="36561" marB="36561" anchor="ctr"/>
                </a:tc>
                <a:extLst>
                  <a:ext uri="{0D108BD9-81ED-4DB2-BD59-A6C34878D82A}">
                    <a16:rowId xmlns:a16="http://schemas.microsoft.com/office/drawing/2014/main" val="176066783"/>
                  </a:ext>
                </a:extLst>
              </a:tr>
              <a:tr h="594408">
                <a:tc>
                  <a:txBody>
                    <a:bodyPr/>
                    <a:lstStyle/>
                    <a:p>
                      <a:pPr>
                        <a:buNone/>
                      </a:pPr>
                      <a:r>
                        <a:rPr lang="en-US" sz="1400" b="1"/>
                        <a:t>1. Initialization (W1–2)</a:t>
                      </a:r>
                      <a:endParaRPr lang="en-US" sz="1400">
                        <a:latin typeface="Times New Roman" panose="02020603050405020304" pitchFamily="18" charset="0"/>
                        <a:cs typeface="Times New Roman" panose="02020603050405020304" pitchFamily="18" charset="0"/>
                      </a:endParaRPr>
                    </a:p>
                  </a:txBody>
                  <a:tcPr marL="73123" marR="73123" marT="36561" marB="36561" anchor="ctr"/>
                </a:tc>
                <a:tc>
                  <a:txBody>
                    <a:bodyPr/>
                    <a:lstStyle/>
                    <a:p>
                      <a:pPr>
                        <a:buNone/>
                      </a:pPr>
                      <a:r>
                        <a:rPr lang="en-US" sz="1400"/>
                        <a:t>Team setup, environment config</a:t>
                      </a:r>
                      <a:endParaRPr lang="en-US" sz="1400">
                        <a:latin typeface="Times New Roman" panose="02020603050405020304" pitchFamily="18" charset="0"/>
                        <a:cs typeface="Times New Roman" panose="02020603050405020304" pitchFamily="18" charset="0"/>
                      </a:endParaRPr>
                    </a:p>
                  </a:txBody>
                  <a:tcPr marL="73123" marR="73123" marT="36561" marB="36561" anchor="ctr"/>
                </a:tc>
                <a:tc>
                  <a:txBody>
                    <a:bodyPr/>
                    <a:lstStyle/>
                    <a:p>
                      <a:pPr>
                        <a:buNone/>
                      </a:pPr>
                      <a:r>
                        <a:rPr lang="en-US" sz="1400"/>
                        <a:t>GitHub repo, virtual env, dependencies installed</a:t>
                      </a:r>
                      <a:endParaRPr lang="en-US" sz="1400">
                        <a:latin typeface="Times New Roman" panose="02020603050405020304" pitchFamily="18" charset="0"/>
                        <a:cs typeface="Times New Roman" panose="02020603050405020304" pitchFamily="18" charset="0"/>
                      </a:endParaRPr>
                    </a:p>
                  </a:txBody>
                  <a:tcPr marL="73123" marR="73123" marT="36561" marB="36561" anchor="ctr"/>
                </a:tc>
                <a:extLst>
                  <a:ext uri="{0D108BD9-81ED-4DB2-BD59-A6C34878D82A}">
                    <a16:rowId xmlns:a16="http://schemas.microsoft.com/office/drawing/2014/main" val="1289243470"/>
                  </a:ext>
                </a:extLst>
              </a:tr>
              <a:tr h="615330">
                <a:tc>
                  <a:txBody>
                    <a:bodyPr/>
                    <a:lstStyle/>
                    <a:p>
                      <a:pPr>
                        <a:buNone/>
                      </a:pPr>
                      <a:r>
                        <a:rPr lang="en-US" sz="1400" b="1" dirty="0"/>
                        <a:t>2. Data Pipeline (W3–4)</a:t>
                      </a:r>
                      <a:endParaRPr lang="en-US" sz="1400" dirty="0">
                        <a:latin typeface="Times New Roman" panose="02020603050405020304" pitchFamily="18" charset="0"/>
                        <a:cs typeface="Times New Roman" panose="02020603050405020304" pitchFamily="18" charset="0"/>
                      </a:endParaRPr>
                    </a:p>
                  </a:txBody>
                  <a:tcPr marL="73123" marR="73123" marT="36561" marB="36561" anchor="ctr"/>
                </a:tc>
                <a:tc>
                  <a:txBody>
                    <a:bodyPr/>
                    <a:lstStyle/>
                    <a:p>
                      <a:pPr>
                        <a:buNone/>
                      </a:pPr>
                      <a:r>
                        <a:rPr lang="en-US" sz="1400"/>
                        <a:t>Integrate CPCB, MERRA-2, INSAT-3DR</a:t>
                      </a:r>
                      <a:endParaRPr lang="en-US" sz="1400">
                        <a:latin typeface="Times New Roman" panose="02020603050405020304" pitchFamily="18" charset="0"/>
                        <a:cs typeface="Times New Roman" panose="02020603050405020304" pitchFamily="18" charset="0"/>
                      </a:endParaRPr>
                    </a:p>
                  </a:txBody>
                  <a:tcPr marL="73123" marR="73123" marT="36561" marB="36561" anchor="ctr"/>
                </a:tc>
                <a:tc>
                  <a:txBody>
                    <a:bodyPr/>
                    <a:lstStyle/>
                    <a:p>
                      <a:pPr>
                        <a:buNone/>
                      </a:pPr>
                      <a:r>
                        <a:rPr lang="en-US" sz="1400"/>
                        <a:t>Unified AQI dataset, preprocessing scripts</a:t>
                      </a:r>
                      <a:endParaRPr lang="en-US" sz="1400">
                        <a:latin typeface="Times New Roman" panose="02020603050405020304" pitchFamily="18" charset="0"/>
                        <a:cs typeface="Times New Roman" panose="02020603050405020304" pitchFamily="18" charset="0"/>
                      </a:endParaRPr>
                    </a:p>
                  </a:txBody>
                  <a:tcPr marL="73123" marR="73123" marT="36561" marB="36561" anchor="ctr"/>
                </a:tc>
                <a:extLst>
                  <a:ext uri="{0D108BD9-81ED-4DB2-BD59-A6C34878D82A}">
                    <a16:rowId xmlns:a16="http://schemas.microsoft.com/office/drawing/2014/main" val="4269237741"/>
                  </a:ext>
                </a:extLst>
              </a:tr>
              <a:tr h="849154">
                <a:tc>
                  <a:txBody>
                    <a:bodyPr/>
                    <a:lstStyle/>
                    <a:p>
                      <a:pPr>
                        <a:buNone/>
                      </a:pPr>
                      <a:r>
                        <a:rPr lang="en-US" sz="1400" b="1" dirty="0"/>
                        <a:t>3. ML Pipeline (W5–6)</a:t>
                      </a:r>
                      <a:endParaRPr lang="en-US" sz="1400" dirty="0">
                        <a:latin typeface="Times New Roman" panose="02020603050405020304" pitchFamily="18" charset="0"/>
                        <a:cs typeface="Times New Roman" panose="02020603050405020304" pitchFamily="18" charset="0"/>
                      </a:endParaRPr>
                    </a:p>
                  </a:txBody>
                  <a:tcPr marL="73123" marR="73123" marT="36561" marB="36561" anchor="ctr"/>
                </a:tc>
                <a:tc>
                  <a:txBody>
                    <a:bodyPr/>
                    <a:lstStyle/>
                    <a:p>
                      <a:pPr>
                        <a:buNone/>
                      </a:pPr>
                      <a:r>
                        <a:rPr lang="en-US" sz="1400"/>
                        <a:t>Random Forest, LSTM, Q-Learning models</a:t>
                      </a:r>
                      <a:endParaRPr lang="en-US" sz="1400">
                        <a:latin typeface="Times New Roman" panose="02020603050405020304" pitchFamily="18" charset="0"/>
                        <a:cs typeface="Times New Roman" panose="02020603050405020304" pitchFamily="18" charset="0"/>
                      </a:endParaRPr>
                    </a:p>
                  </a:txBody>
                  <a:tcPr marL="73123" marR="73123" marT="36561" marB="36561" anchor="ctr"/>
                </a:tc>
                <a:tc>
                  <a:txBody>
                    <a:bodyPr/>
                    <a:lstStyle/>
                    <a:p>
                      <a:pPr>
                        <a:buNone/>
                      </a:pPr>
                      <a:r>
                        <a:rPr lang="en-US" sz="1400" dirty="0"/>
                        <a:t>R² ≥ 0.99 forecasting engine, validation metrics</a:t>
                      </a:r>
                      <a:endParaRPr lang="en-US" sz="1400" dirty="0">
                        <a:latin typeface="Times New Roman" panose="02020603050405020304" pitchFamily="18" charset="0"/>
                        <a:cs typeface="Times New Roman" panose="02020603050405020304" pitchFamily="18" charset="0"/>
                      </a:endParaRPr>
                    </a:p>
                  </a:txBody>
                  <a:tcPr marL="73123" marR="73123" marT="36561" marB="36561" anchor="ctr"/>
                </a:tc>
                <a:extLst>
                  <a:ext uri="{0D108BD9-81ED-4DB2-BD59-A6C34878D82A}">
                    <a16:rowId xmlns:a16="http://schemas.microsoft.com/office/drawing/2014/main" val="1694304833"/>
                  </a:ext>
                </a:extLst>
              </a:tr>
              <a:tr h="849154">
                <a:tc>
                  <a:txBody>
                    <a:bodyPr/>
                    <a:lstStyle/>
                    <a:p>
                      <a:pPr>
                        <a:buNone/>
                      </a:pPr>
                      <a:r>
                        <a:rPr lang="en-US" sz="1400" b="1" dirty="0"/>
                        <a:t>4. Deployment (W7)</a:t>
                      </a:r>
                      <a:endParaRPr lang="en-US" sz="1400" dirty="0">
                        <a:latin typeface="Times New Roman" panose="02020603050405020304" pitchFamily="18" charset="0"/>
                        <a:cs typeface="Times New Roman" panose="02020603050405020304" pitchFamily="18" charset="0"/>
                      </a:endParaRPr>
                    </a:p>
                  </a:txBody>
                  <a:tcPr marL="73123" marR="73123" marT="36561" marB="36561" anchor="ctr"/>
                </a:tc>
                <a:tc>
                  <a:txBody>
                    <a:bodyPr/>
                    <a:lstStyle/>
                    <a:p>
                      <a:pPr>
                        <a:buNone/>
                      </a:pPr>
                      <a:r>
                        <a:rPr lang="en-US" sz="1400" dirty="0"/>
                        <a:t>API + </a:t>
                      </a:r>
                      <a:r>
                        <a:rPr lang="en-US" sz="1400" dirty="0" err="1"/>
                        <a:t>Streamlit</a:t>
                      </a:r>
                      <a:r>
                        <a:rPr lang="en-US" sz="1400" dirty="0"/>
                        <a:t> frontend</a:t>
                      </a:r>
                      <a:endParaRPr lang="en-US" sz="1400" dirty="0">
                        <a:latin typeface="Times New Roman" panose="02020603050405020304" pitchFamily="18" charset="0"/>
                        <a:cs typeface="Times New Roman" panose="02020603050405020304" pitchFamily="18" charset="0"/>
                      </a:endParaRPr>
                    </a:p>
                  </a:txBody>
                  <a:tcPr marL="73123" marR="73123" marT="36561" marB="36561" anchor="ctr"/>
                </a:tc>
                <a:tc>
                  <a:txBody>
                    <a:bodyPr/>
                    <a:lstStyle/>
                    <a:p>
                      <a:pPr>
                        <a:buNone/>
                      </a:pPr>
                      <a:r>
                        <a:rPr lang="en-US" sz="1400"/>
                        <a:t>Real-time AQI dashboard, health alerts, heatmaps</a:t>
                      </a:r>
                      <a:endParaRPr lang="en-US" sz="1400">
                        <a:latin typeface="Times New Roman" panose="02020603050405020304" pitchFamily="18" charset="0"/>
                        <a:cs typeface="Times New Roman" panose="02020603050405020304" pitchFamily="18" charset="0"/>
                      </a:endParaRPr>
                    </a:p>
                  </a:txBody>
                  <a:tcPr marL="73123" marR="73123" marT="36561" marB="36561" anchor="ctr"/>
                </a:tc>
                <a:extLst>
                  <a:ext uri="{0D108BD9-81ED-4DB2-BD59-A6C34878D82A}">
                    <a16:rowId xmlns:a16="http://schemas.microsoft.com/office/drawing/2014/main" val="1008396047"/>
                  </a:ext>
                </a:extLst>
              </a:tr>
              <a:tr h="594408">
                <a:tc>
                  <a:txBody>
                    <a:bodyPr/>
                    <a:lstStyle/>
                    <a:p>
                      <a:pPr>
                        <a:buNone/>
                      </a:pPr>
                      <a:r>
                        <a:rPr lang="en-US" sz="1400" b="1"/>
                        <a:t>5. Research &amp; Outreach (W8)</a:t>
                      </a:r>
                      <a:endParaRPr lang="en-US" sz="1400">
                        <a:latin typeface="Times New Roman" panose="02020603050405020304" pitchFamily="18" charset="0"/>
                        <a:cs typeface="Times New Roman" panose="02020603050405020304" pitchFamily="18" charset="0"/>
                      </a:endParaRPr>
                    </a:p>
                  </a:txBody>
                  <a:tcPr marL="73123" marR="73123" marT="36561" marB="36561" anchor="ctr"/>
                </a:tc>
                <a:tc>
                  <a:txBody>
                    <a:bodyPr/>
                    <a:lstStyle/>
                    <a:p>
                      <a:pPr>
                        <a:buNone/>
                      </a:pPr>
                      <a:r>
                        <a:rPr lang="en-US" sz="1400"/>
                        <a:t>Paper drafting, user rollout</a:t>
                      </a:r>
                      <a:endParaRPr lang="en-US" sz="1400">
                        <a:latin typeface="Times New Roman" panose="02020603050405020304" pitchFamily="18" charset="0"/>
                        <a:cs typeface="Times New Roman" panose="02020603050405020304" pitchFamily="18" charset="0"/>
                      </a:endParaRPr>
                    </a:p>
                  </a:txBody>
                  <a:tcPr marL="73123" marR="73123" marT="36561" marB="36561" anchor="ctr"/>
                </a:tc>
                <a:tc>
                  <a:txBody>
                    <a:bodyPr/>
                    <a:lstStyle/>
                    <a:p>
                      <a:pPr>
                        <a:buNone/>
                      </a:pPr>
                      <a:r>
                        <a:rPr lang="en-US" sz="1400" dirty="0"/>
                        <a:t>Research submission, 10K+ user onboarding</a:t>
                      </a:r>
                      <a:endParaRPr lang="en-US" sz="1400" dirty="0">
                        <a:latin typeface="Times New Roman" panose="02020603050405020304" pitchFamily="18" charset="0"/>
                        <a:cs typeface="Times New Roman" panose="02020603050405020304" pitchFamily="18" charset="0"/>
                      </a:endParaRPr>
                    </a:p>
                  </a:txBody>
                  <a:tcPr marL="73123" marR="73123" marT="36561" marB="36561" anchor="ctr"/>
                </a:tc>
                <a:extLst>
                  <a:ext uri="{0D108BD9-81ED-4DB2-BD59-A6C34878D82A}">
                    <a16:rowId xmlns:a16="http://schemas.microsoft.com/office/drawing/2014/main" val="1091734674"/>
                  </a:ext>
                </a:extLst>
              </a:tr>
            </a:tbl>
          </a:graphicData>
        </a:graphic>
      </p:graphicFrame>
      <p:sp>
        <p:nvSpPr>
          <p:cNvPr id="5" name="Slide Number Placeholder 4">
            <a:extLst>
              <a:ext uri="{FF2B5EF4-FFF2-40B4-BE49-F238E27FC236}">
                <a16:creationId xmlns:a16="http://schemas.microsoft.com/office/drawing/2014/main" id="{4F0DC211-CAD1-3402-8942-7425291FBCD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2492245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64ACC-6C01-A181-7756-3F6F4228CD2E}"/>
              </a:ext>
            </a:extLst>
          </p:cNvPr>
          <p:cNvSpPr>
            <a:spLocks noGrp="1"/>
          </p:cNvSpPr>
          <p:nvPr>
            <p:ph type="title"/>
          </p:nvPr>
        </p:nvSpPr>
        <p:spPr>
          <a:xfrm>
            <a:off x="2669124" y="465666"/>
            <a:ext cx="8911687" cy="1280890"/>
          </a:xfrm>
        </p:spPr>
        <p:txBody>
          <a:bodyPr/>
          <a:lstStyle/>
          <a:p>
            <a:pPr algn="ctr"/>
            <a:r>
              <a:rPr lang="en-US" altLang="zh-CN" dirty="0">
                <a:solidFill>
                  <a:srgbClr val="000000"/>
                </a:solidFill>
                <a:latin typeface="Times New Roman" panose="02020603050405020304"/>
                <a:ea typeface="Times New Roman" panose="02020603050405020304"/>
              </a:rPr>
              <a:t>Synopsis of Research Project and Paper </a:t>
            </a:r>
            <a:br>
              <a:rPr lang="en-US" altLang="zh-CN" dirty="0">
                <a:solidFill>
                  <a:srgbClr val="000000"/>
                </a:solidFill>
                <a:latin typeface="Times New Roman" panose="02020603050405020304"/>
                <a:ea typeface="Times New Roman" panose="02020603050405020304"/>
              </a:rPr>
            </a:br>
            <a:endParaRPr lang="en-US" dirty="0"/>
          </a:p>
        </p:txBody>
      </p:sp>
      <p:sp>
        <p:nvSpPr>
          <p:cNvPr id="3" name="Content Placeholder 2">
            <a:extLst>
              <a:ext uri="{FF2B5EF4-FFF2-40B4-BE49-F238E27FC236}">
                <a16:creationId xmlns:a16="http://schemas.microsoft.com/office/drawing/2014/main" id="{DE73B339-FC59-E11A-AEED-E235AB1460C0}"/>
              </a:ext>
            </a:extLst>
          </p:cNvPr>
          <p:cNvSpPr>
            <a:spLocks noGrp="1"/>
          </p:cNvSpPr>
          <p:nvPr>
            <p:ph sz="half" idx="1"/>
          </p:nvPr>
        </p:nvSpPr>
        <p:spPr>
          <a:xfrm>
            <a:off x="2567524" y="1439334"/>
            <a:ext cx="8789989" cy="4953000"/>
          </a:xfrm>
        </p:spPr>
        <p:txBody>
          <a:bodyPr>
            <a:noAutofit/>
          </a:bodyPr>
          <a:lstStyle/>
          <a:p>
            <a:pPr marL="0" indent="0" algn="ctr">
              <a:buNone/>
            </a:pPr>
            <a:r>
              <a:rPr lang="en-US" sz="1000" b="1" dirty="0"/>
              <a:t>    Problem</a:t>
            </a:r>
          </a:p>
          <a:p>
            <a:pPr algn="ctr"/>
            <a:r>
              <a:rPr lang="en-US" sz="1000" dirty="0"/>
              <a:t>50% of India lacks air quality coverage</a:t>
            </a:r>
          </a:p>
          <a:p>
            <a:pPr algn="ctr"/>
            <a:r>
              <a:rPr lang="en-US" sz="1000" dirty="0"/>
              <a:t>Existing systems: low accuracy, poor rural data integration</a:t>
            </a:r>
          </a:p>
          <a:p>
            <a:pPr marL="0" indent="0" algn="ctr">
              <a:buNone/>
            </a:pPr>
            <a:r>
              <a:rPr lang="en-US" sz="1000" b="1" dirty="0"/>
              <a:t>Solution</a:t>
            </a:r>
          </a:p>
          <a:p>
            <a:pPr marL="0" indent="0" algn="ctr">
              <a:buNone/>
            </a:pPr>
            <a:r>
              <a:rPr lang="en-US" sz="1000" b="1" dirty="0"/>
              <a:t>        Multi-Source AI Integration:</a:t>
            </a:r>
            <a:br>
              <a:rPr lang="en-US" sz="1000" dirty="0"/>
            </a:br>
            <a:r>
              <a:rPr lang="en-US" sz="1000" dirty="0"/>
              <a:t>CPCB (Ground) + MERRA-2 (Weather) + INSAT-3DR (Satellite) → 23 features</a:t>
            </a:r>
          </a:p>
          <a:p>
            <a:pPr marL="0" indent="0" algn="ctr">
              <a:buNone/>
            </a:pPr>
            <a:r>
              <a:rPr lang="en-US" sz="1000" b="1" dirty="0"/>
              <a:t> Hybrid ML Pipeline:</a:t>
            </a:r>
            <a:r>
              <a:rPr lang="en-US" sz="1000" dirty="0"/>
              <a:t> Random Forest (R² = 0.9994, RMSE = 4.57 AQI)</a:t>
            </a:r>
          </a:p>
          <a:p>
            <a:pPr marL="0" indent="0" algn="ctr">
              <a:buNone/>
            </a:pPr>
            <a:r>
              <a:rPr lang="en-US" sz="1000" b="1" dirty="0"/>
              <a:t>      Key Highlights</a:t>
            </a:r>
          </a:p>
          <a:p>
            <a:pPr algn="ctr"/>
            <a:r>
              <a:rPr lang="en-US" sz="1000" dirty="0"/>
              <a:t>503 stations → </a:t>
            </a:r>
            <a:r>
              <a:rPr lang="en-US" sz="1000" b="1" dirty="0"/>
              <a:t>84,504 hourly records (168× data expansion)</a:t>
            </a:r>
            <a:endParaRPr lang="en-US" sz="1000" dirty="0"/>
          </a:p>
          <a:p>
            <a:pPr algn="ctr"/>
            <a:r>
              <a:rPr lang="en-US" sz="1000" dirty="0"/>
              <a:t>8.3 s training (346× faster than LSTM)</a:t>
            </a:r>
          </a:p>
          <a:p>
            <a:pPr algn="ctr"/>
            <a:r>
              <a:rPr lang="en-US" sz="1000" dirty="0"/>
              <a:t>&lt;10 </a:t>
            </a:r>
            <a:r>
              <a:rPr lang="en-US" sz="1000" dirty="0" err="1"/>
              <a:t>ms</a:t>
            </a:r>
            <a:r>
              <a:rPr lang="en-US" sz="1000" dirty="0"/>
              <a:t> forecast response time</a:t>
            </a:r>
          </a:p>
          <a:p>
            <a:pPr algn="ctr"/>
            <a:r>
              <a:rPr lang="en-US" sz="1000" dirty="0"/>
              <a:t>94% rush-hour detection accuracy</a:t>
            </a:r>
          </a:p>
          <a:p>
            <a:pPr marL="0" indent="0" algn="ctr">
              <a:buNone/>
            </a:pPr>
            <a:r>
              <a:rPr lang="en-US" sz="1000" b="1" dirty="0"/>
              <a:t>         Impact</a:t>
            </a:r>
          </a:p>
          <a:p>
            <a:pPr marL="0" indent="0" algn="ctr">
              <a:buNone/>
            </a:pPr>
            <a:r>
              <a:rPr lang="en-US" sz="1000" dirty="0"/>
              <a:t>✅ Expands monitoring to underserved regions</a:t>
            </a:r>
            <a:br>
              <a:rPr lang="en-US" sz="1000" dirty="0"/>
            </a:br>
            <a:r>
              <a:rPr lang="en-US" sz="1000" dirty="0"/>
              <a:t>✅ Real-time AQI forecasts (1–72 </a:t>
            </a:r>
            <a:r>
              <a:rPr lang="en-US" sz="1000" dirty="0" err="1"/>
              <a:t>hrs</a:t>
            </a:r>
            <a:r>
              <a:rPr lang="en-US" sz="1000" dirty="0"/>
              <a:t>)</a:t>
            </a:r>
            <a:br>
              <a:rPr lang="en-US" sz="1000" dirty="0"/>
            </a:br>
            <a:r>
              <a:rPr lang="en-US" sz="1000" dirty="0"/>
              <a:t>✅ Personalized health advisories</a:t>
            </a:r>
            <a:br>
              <a:rPr lang="en-US" sz="1000" dirty="0"/>
            </a:br>
            <a:r>
              <a:rPr lang="en-US" sz="1000" dirty="0"/>
              <a:t>✅ Interactive dashboard &amp; policy simulator</a:t>
            </a:r>
          </a:p>
          <a:p>
            <a:pPr marL="0" indent="0" algn="ctr">
              <a:buNone/>
            </a:pPr>
            <a:r>
              <a:rPr lang="en-US" sz="1000" b="1" dirty="0"/>
              <a:t>              👥 Team &amp; Timeline</a:t>
            </a:r>
          </a:p>
          <a:p>
            <a:pPr algn="ctr"/>
            <a:r>
              <a:rPr lang="en-US" sz="1000" dirty="0"/>
              <a:t>Gurjas Gandhi | Nikita </a:t>
            </a:r>
            <a:r>
              <a:rPr lang="en-US" sz="1000" dirty="0" err="1"/>
              <a:t>Bachute</a:t>
            </a:r>
            <a:r>
              <a:rPr lang="en-US" sz="1000" dirty="0"/>
              <a:t> | Pranav </a:t>
            </a:r>
            <a:r>
              <a:rPr lang="en-US" sz="1000" dirty="0" err="1"/>
              <a:t>Gadewar</a:t>
            </a:r>
            <a:r>
              <a:rPr lang="en-US" sz="1000" dirty="0"/>
              <a:t> | Ritwik </a:t>
            </a:r>
            <a:r>
              <a:rPr lang="en-US" sz="1000" dirty="0" err="1"/>
              <a:t>Rahut</a:t>
            </a:r>
            <a:br>
              <a:rPr lang="en-US" sz="1000" dirty="0"/>
            </a:br>
            <a:r>
              <a:rPr lang="en-US" sz="1000" b="1" dirty="0"/>
              <a:t>Duration:</a:t>
            </a:r>
            <a:r>
              <a:rPr lang="en-US" sz="1000" dirty="0"/>
              <a:t> 4 Months </a:t>
            </a:r>
            <a:r>
              <a:rPr lang="en-US" sz="1000" b="1" dirty="0"/>
              <a:t>Target:</a:t>
            </a:r>
            <a:r>
              <a:rPr lang="en-US" sz="1000" dirty="0"/>
              <a:t> 10 K Users</a:t>
            </a:r>
          </a:p>
          <a:p>
            <a:pPr algn="ctr"/>
            <a:endParaRPr lang="en-US" sz="1000" dirty="0"/>
          </a:p>
        </p:txBody>
      </p:sp>
      <p:sp>
        <p:nvSpPr>
          <p:cNvPr id="5" name="Slide Number Placeholder 4">
            <a:extLst>
              <a:ext uri="{FF2B5EF4-FFF2-40B4-BE49-F238E27FC236}">
                <a16:creationId xmlns:a16="http://schemas.microsoft.com/office/drawing/2014/main" id="{7A85830C-5927-553A-71F7-6A4110260E2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3801919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83BD2-2B4F-AFF2-26AF-46060FC085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00F53E-44CE-170A-B8EF-DE301F60944B}"/>
              </a:ext>
            </a:extLst>
          </p:cNvPr>
          <p:cNvSpPr>
            <a:spLocks noGrp="1"/>
          </p:cNvSpPr>
          <p:nvPr>
            <p:ph type="title"/>
          </p:nvPr>
        </p:nvSpPr>
        <p:spPr>
          <a:xfrm>
            <a:off x="2423591" y="2368243"/>
            <a:ext cx="8911687" cy="1280890"/>
          </a:xfrm>
        </p:spPr>
        <p:txBody>
          <a:bodyPr/>
          <a:lstStyle/>
          <a:p>
            <a:pPr algn="ctr"/>
            <a:r>
              <a:rPr lang="en-US" b="1" dirty="0"/>
              <a:t>PROGRESS REPORT-III</a:t>
            </a:r>
          </a:p>
        </p:txBody>
      </p:sp>
      <p:sp>
        <p:nvSpPr>
          <p:cNvPr id="5" name="Slide Number Placeholder 4">
            <a:extLst>
              <a:ext uri="{FF2B5EF4-FFF2-40B4-BE49-F238E27FC236}">
                <a16:creationId xmlns:a16="http://schemas.microsoft.com/office/drawing/2014/main" id="{2FCDDCD5-AD82-FF1D-5C29-6EF7F63CCBD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extLst>
      <p:ext uri="{BB962C8B-B14F-4D97-AF65-F5344CB8AC3E}">
        <p14:creationId xmlns:p14="http://schemas.microsoft.com/office/powerpoint/2010/main" val="1349585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graphicFrame>
        <p:nvGraphicFramePr>
          <p:cNvPr id="5" name="Table 4"/>
          <p:cNvGraphicFramePr/>
          <p:nvPr>
            <p:custDataLst>
              <p:tags r:id="rId1"/>
            </p:custDataLst>
          </p:nvPr>
        </p:nvGraphicFramePr>
        <p:xfrm>
          <a:off x="1513840" y="970280"/>
          <a:ext cx="10349865" cy="4179570"/>
        </p:xfrm>
        <a:graphic>
          <a:graphicData uri="http://schemas.openxmlformats.org/drawingml/2006/table">
            <a:tbl>
              <a:tblPr/>
              <a:tblGrid>
                <a:gridCol w="1699895">
                  <a:extLst>
                    <a:ext uri="{9D8B030D-6E8A-4147-A177-3AD203B41FA5}">
                      <a16:colId xmlns:a16="http://schemas.microsoft.com/office/drawing/2014/main" val="20000"/>
                    </a:ext>
                  </a:extLst>
                </a:gridCol>
                <a:gridCol w="8565515">
                  <a:extLst>
                    <a:ext uri="{9D8B030D-6E8A-4147-A177-3AD203B41FA5}">
                      <a16:colId xmlns:a16="http://schemas.microsoft.com/office/drawing/2014/main" val="20001"/>
                    </a:ext>
                  </a:extLst>
                </a:gridCol>
                <a:gridCol w="84455">
                  <a:extLst>
                    <a:ext uri="{9D8B030D-6E8A-4147-A177-3AD203B41FA5}">
                      <a16:colId xmlns:a16="http://schemas.microsoft.com/office/drawing/2014/main" val="20002"/>
                    </a:ext>
                  </a:extLst>
                </a:gridCol>
              </a:tblGrid>
              <a:tr h="775335">
                <a:tc>
                  <a:txBody>
                    <a:bodyPr/>
                    <a:lstStyle/>
                    <a:p>
                      <a:pPr marL="59055" indent="0" algn="ctr">
                        <a:lnSpc>
                          <a:spcPct val="114000"/>
                        </a:lnSpc>
                        <a:spcBef>
                          <a:spcPct val="0"/>
                        </a:spcBef>
                        <a:spcAft>
                          <a:spcPct val="0"/>
                        </a:spcAft>
                      </a:pPr>
                      <a:r>
                        <a:rPr lang="en-US" altLang="zh-CN" sz="2400" b="1">
                          <a:solidFill>
                            <a:srgbClr val="000000"/>
                          </a:solidFill>
                          <a:latin typeface="Times New Roman" panose="02020603050405020304"/>
                          <a:ea typeface="Times New Roman" panose="02020603050405020304"/>
                        </a:rPr>
                        <a:t>SR.NO</a:t>
                      </a:r>
                    </a:p>
                  </a:txBody>
                  <a:tcPr marL="68580" marR="68580" marT="0" marB="0" anchor="b">
                    <a:lnL>
                      <a:noFill/>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solidFill>
                      <a:srgbClr val="FFFF00"/>
                    </a:solidFill>
                  </a:tcPr>
                </a:tc>
                <a:tc>
                  <a:txBody>
                    <a:bodyPr/>
                    <a:lstStyle/>
                    <a:p>
                      <a:pPr marL="59055" indent="0" algn="ctr">
                        <a:lnSpc>
                          <a:spcPct val="114000"/>
                        </a:lnSpc>
                        <a:spcBef>
                          <a:spcPct val="0"/>
                        </a:spcBef>
                        <a:spcAft>
                          <a:spcPct val="0"/>
                        </a:spcAft>
                      </a:pPr>
                      <a:r>
                        <a:rPr lang="en-US" altLang="zh-CN" sz="2400" b="1">
                          <a:solidFill>
                            <a:srgbClr val="000000"/>
                          </a:solidFill>
                          <a:latin typeface="Times New Roman" panose="02020603050405020304"/>
                          <a:ea typeface="Times New Roman" panose="02020603050405020304"/>
                        </a:rPr>
                        <a:t>Progress Report III</a:t>
                      </a: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solidFill>
                      <a:srgbClr val="FFFF00"/>
                    </a:solidFill>
                  </a:tcPr>
                </a:tc>
                <a:tc>
                  <a:txBody>
                    <a:bodyPr/>
                    <a:lstStyle/>
                    <a:p>
                      <a:endParaRPr/>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0"/>
                  </a:ext>
                </a:extLst>
              </a:tr>
              <a:tr h="776605">
                <a:tc>
                  <a:txBody>
                    <a:bodyPr/>
                    <a:lstStyle/>
                    <a:p>
                      <a:pPr marL="59055" indent="0" algn="ctr">
                        <a:lnSpc>
                          <a:spcPct val="114000"/>
                        </a:lnSpc>
                        <a:spcBef>
                          <a:spcPct val="0"/>
                        </a:spcBef>
                        <a:spcAft>
                          <a:spcPct val="0"/>
                        </a:spcAft>
                      </a:pPr>
                      <a:r>
                        <a:rPr lang="en-US" altLang="zh-CN" sz="2400">
                          <a:solidFill>
                            <a:srgbClr val="000000"/>
                          </a:solidFill>
                          <a:latin typeface="Times New Roman" panose="02020603050405020304"/>
                          <a:ea typeface="Times New Roman" panose="02020603050405020304"/>
                        </a:rPr>
                        <a:t>1</a:t>
                      </a:r>
                    </a:p>
                  </a:txBody>
                  <a:tcPr marL="68580" marR="68580" marT="0" marB="0" anchor="b">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59055" indent="0">
                        <a:lnSpc>
                          <a:spcPct val="114000"/>
                        </a:lnSpc>
                        <a:spcBef>
                          <a:spcPct val="0"/>
                        </a:spcBef>
                        <a:spcAft>
                          <a:spcPct val="0"/>
                        </a:spcAft>
                      </a:pPr>
                      <a:r>
                        <a:rPr lang="en-US" altLang="zh-CN" sz="2400" dirty="0">
                          <a:solidFill>
                            <a:srgbClr val="000000"/>
                          </a:solidFill>
                          <a:latin typeface="Times New Roman" panose="02020603050405020304"/>
                          <a:ea typeface="Times New Roman" panose="02020603050405020304"/>
                        </a:rPr>
                        <a:t>Requirement Analysis / Models  </a:t>
                      </a: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endParaRPr/>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1"/>
                  </a:ext>
                </a:extLst>
              </a:tr>
              <a:tr h="1075690">
                <a:tc>
                  <a:txBody>
                    <a:bodyPr/>
                    <a:lstStyle/>
                    <a:p>
                      <a:pPr marL="59055" indent="0" algn="ctr">
                        <a:lnSpc>
                          <a:spcPct val="114000"/>
                        </a:lnSpc>
                        <a:spcBef>
                          <a:spcPct val="0"/>
                        </a:spcBef>
                        <a:spcAft>
                          <a:spcPct val="0"/>
                        </a:spcAft>
                      </a:pPr>
                      <a:r>
                        <a:rPr lang="en-US" altLang="zh-CN" sz="2400">
                          <a:solidFill>
                            <a:srgbClr val="000000"/>
                          </a:solidFill>
                          <a:latin typeface="Times New Roman" panose="02020603050405020304"/>
                          <a:ea typeface="Times New Roman" panose="02020603050405020304"/>
                        </a:rPr>
                        <a:t>2</a:t>
                      </a:r>
                    </a:p>
                  </a:txBody>
                  <a:tcPr marL="68580" marR="68580" marT="0" marB="0" anchor="b">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59055" indent="0">
                        <a:lnSpc>
                          <a:spcPct val="114000"/>
                        </a:lnSpc>
                        <a:spcBef>
                          <a:spcPct val="0"/>
                        </a:spcBef>
                        <a:spcAft>
                          <a:spcPct val="0"/>
                        </a:spcAft>
                      </a:pPr>
                      <a:r>
                        <a:rPr lang="en-US" altLang="zh-CN" sz="2400" dirty="0">
                          <a:solidFill>
                            <a:srgbClr val="000000"/>
                          </a:solidFill>
                          <a:latin typeface="Times New Roman" panose="02020603050405020304"/>
                          <a:ea typeface="Times New Roman" panose="02020603050405020304"/>
                        </a:rPr>
                        <a:t>Screen Design with proper validations, Reports-Analytical &amp; graphical</a:t>
                      </a: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endParaRPr/>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2"/>
                  </a:ext>
                </a:extLst>
              </a:tr>
              <a:tr h="776605">
                <a:tc>
                  <a:txBody>
                    <a:bodyPr/>
                    <a:lstStyle/>
                    <a:p>
                      <a:pPr marL="59055" indent="0" algn="ctr">
                        <a:lnSpc>
                          <a:spcPct val="114000"/>
                        </a:lnSpc>
                        <a:spcBef>
                          <a:spcPct val="0"/>
                        </a:spcBef>
                        <a:spcAft>
                          <a:spcPct val="0"/>
                        </a:spcAft>
                      </a:pPr>
                      <a:r>
                        <a:rPr lang="en-US" altLang="zh-CN" sz="2400">
                          <a:solidFill>
                            <a:srgbClr val="000000"/>
                          </a:solidFill>
                          <a:latin typeface="Times New Roman" panose="02020603050405020304"/>
                          <a:ea typeface="Times New Roman" panose="02020603050405020304"/>
                        </a:rPr>
                        <a:t>3</a:t>
                      </a:r>
                    </a:p>
                  </a:txBody>
                  <a:tcPr marL="68580" marR="68580" marT="0" marB="0" anchor="b">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59055" indent="0">
                        <a:lnSpc>
                          <a:spcPct val="114000"/>
                        </a:lnSpc>
                        <a:spcBef>
                          <a:spcPct val="0"/>
                        </a:spcBef>
                        <a:spcAft>
                          <a:spcPct val="0"/>
                        </a:spcAft>
                      </a:pPr>
                      <a:r>
                        <a:rPr lang="en-US" altLang="zh-CN" sz="2400" dirty="0">
                          <a:solidFill>
                            <a:srgbClr val="000000"/>
                          </a:solidFill>
                          <a:latin typeface="Times New Roman" panose="02020603050405020304"/>
                          <a:ea typeface="Times New Roman" panose="02020603050405020304"/>
                        </a:rPr>
                        <a:t>3-4 Working Models, Publish Research Paper </a:t>
                      </a: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endParaRPr/>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3"/>
                  </a:ext>
                </a:extLst>
              </a:tr>
              <a:tr h="775335">
                <a:tc>
                  <a:txBody>
                    <a:bodyPr/>
                    <a:lstStyle/>
                    <a:p>
                      <a:pPr marL="59055" indent="0" algn="ctr">
                        <a:lnSpc>
                          <a:spcPct val="114000"/>
                        </a:lnSpc>
                        <a:spcBef>
                          <a:spcPct val="0"/>
                        </a:spcBef>
                        <a:spcAft>
                          <a:spcPct val="0"/>
                        </a:spcAft>
                      </a:pPr>
                      <a:r>
                        <a:rPr lang="en-US" altLang="zh-CN" sz="2400">
                          <a:solidFill>
                            <a:srgbClr val="000000"/>
                          </a:solidFill>
                          <a:latin typeface="Times New Roman" panose="02020603050405020304"/>
                          <a:ea typeface="Times New Roman" panose="02020603050405020304"/>
                        </a:rPr>
                        <a:t>4</a:t>
                      </a:r>
                    </a:p>
                  </a:txBody>
                  <a:tcPr marL="68580" marR="68580" marT="0" marB="0" anchor="b">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59055" indent="0">
                        <a:lnSpc>
                          <a:spcPct val="114000"/>
                        </a:lnSpc>
                        <a:spcBef>
                          <a:spcPct val="0"/>
                        </a:spcBef>
                        <a:spcAft>
                          <a:spcPct val="0"/>
                        </a:spcAft>
                      </a:pPr>
                      <a:r>
                        <a:rPr lang="en-US" altLang="zh-CN" sz="2400" dirty="0">
                          <a:solidFill>
                            <a:srgbClr val="000000"/>
                          </a:solidFill>
                          <a:latin typeface="Times New Roman" panose="02020603050405020304"/>
                          <a:ea typeface="Times New Roman" panose="02020603050405020304"/>
                        </a:rPr>
                        <a:t>30 – 40% Coding documentation</a:t>
                      </a: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endParaRPr dirty="0"/>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4"/>
                  </a:ext>
                </a:extLst>
              </a:tr>
            </a:tbl>
          </a:graphicData>
        </a:graphic>
      </p:graphicFrame>
      <p:sp>
        <p:nvSpPr>
          <p:cNvPr id="182" name="Google Shape;182;p19"/>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PES MODERN COLLEGE OF ENGINEERING, MCA DEPARTMENT, A.Y. 2025-26</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29377-5088-7D45-BC5E-F5DA06B5B878}"/>
              </a:ext>
            </a:extLst>
          </p:cNvPr>
          <p:cNvSpPr>
            <a:spLocks noGrp="1"/>
          </p:cNvSpPr>
          <p:nvPr>
            <p:ph type="title"/>
          </p:nvPr>
        </p:nvSpPr>
        <p:spPr>
          <a:xfrm>
            <a:off x="2592923" y="387262"/>
            <a:ext cx="8911687" cy="843392"/>
          </a:xfrm>
        </p:spPr>
        <p:txBody>
          <a:bodyPr>
            <a:normAutofit fontScale="90000"/>
          </a:bodyPr>
          <a:lstStyle/>
          <a:p>
            <a:pPr algn="ctr"/>
            <a:r>
              <a:rPr lang="en-US" altLang="zh-CN" dirty="0">
                <a:solidFill>
                  <a:srgbClr val="000000"/>
                </a:solidFill>
                <a:latin typeface="Times New Roman" panose="02020603050405020304"/>
                <a:ea typeface="Times New Roman" panose="02020603050405020304"/>
              </a:rPr>
              <a:t>Requirement Analysis / Models  </a:t>
            </a:r>
            <a:br>
              <a:rPr lang="en-US" altLang="zh-CN" dirty="0">
                <a:solidFill>
                  <a:srgbClr val="000000"/>
                </a:solidFill>
                <a:latin typeface="Times New Roman" panose="02020603050405020304"/>
                <a:ea typeface="Times New Roman" panose="02020603050405020304"/>
              </a:rPr>
            </a:br>
            <a:endParaRPr lang="en-US" dirty="0"/>
          </a:p>
        </p:txBody>
      </p:sp>
      <p:sp>
        <p:nvSpPr>
          <p:cNvPr id="3" name="Content Placeholder 2">
            <a:extLst>
              <a:ext uri="{FF2B5EF4-FFF2-40B4-BE49-F238E27FC236}">
                <a16:creationId xmlns:a16="http://schemas.microsoft.com/office/drawing/2014/main" id="{FFD9B11A-ADB2-6936-1ABB-4D136F59D606}"/>
              </a:ext>
            </a:extLst>
          </p:cNvPr>
          <p:cNvSpPr>
            <a:spLocks noGrp="1"/>
          </p:cNvSpPr>
          <p:nvPr>
            <p:ph sz="half" idx="1"/>
          </p:nvPr>
        </p:nvSpPr>
        <p:spPr>
          <a:xfrm>
            <a:off x="2119577" y="1366393"/>
            <a:ext cx="4929189" cy="4702749"/>
          </a:xfrm>
        </p:spPr>
        <p:txBody>
          <a:bodyPr>
            <a:noAutofit/>
          </a:bodyPr>
          <a:lstStyle/>
          <a:p>
            <a:pPr marL="0" indent="0">
              <a:buNone/>
            </a:pPr>
            <a:r>
              <a:rPr lang="en-US" sz="1000" b="1" dirty="0">
                <a:latin typeface="Times New Roman" panose="02020603050405020304" pitchFamily="18" charset="0"/>
                <a:cs typeface="Times New Roman" panose="02020603050405020304" pitchFamily="18" charset="0"/>
              </a:rPr>
              <a:t>Requirement Analysis &amp; Model Design — Vayu Drishti</a:t>
            </a:r>
          </a:p>
          <a:p>
            <a:pPr marL="0" indent="0">
              <a:buNone/>
            </a:pPr>
            <a:r>
              <a:rPr lang="en-US" sz="1000" b="1" dirty="0">
                <a:latin typeface="Times New Roman" panose="02020603050405020304" pitchFamily="18" charset="0"/>
                <a:cs typeface="Times New Roman" panose="02020603050405020304" pitchFamily="18" charset="0"/>
              </a:rPr>
              <a:t> System Requirements</a:t>
            </a:r>
          </a:p>
          <a:p>
            <a:pPr marL="0" indent="0">
              <a:buNone/>
            </a:pPr>
            <a:r>
              <a:rPr lang="en-US" sz="1000" b="1" dirty="0">
                <a:latin typeface="Times New Roman" panose="02020603050405020304" pitchFamily="18" charset="0"/>
                <a:cs typeface="Times New Roman" panose="02020603050405020304" pitchFamily="18" charset="0"/>
              </a:rPr>
              <a:t>Data Sources</a:t>
            </a:r>
            <a:endParaRPr lang="en-US" sz="1000" dirty="0">
              <a:latin typeface="Times New Roman" panose="02020603050405020304" pitchFamily="18" charset="0"/>
              <a:cs typeface="Times New Roman" panose="02020603050405020304" pitchFamily="18" charset="0"/>
            </a:endParaRPr>
          </a:p>
          <a:p>
            <a:r>
              <a:rPr lang="en-US" sz="1000" b="1" dirty="0">
                <a:latin typeface="Times New Roman" panose="02020603050405020304" pitchFamily="18" charset="0"/>
                <a:cs typeface="Times New Roman" panose="02020603050405020304" pitchFamily="18" charset="0"/>
              </a:rPr>
              <a:t>CPCB:</a:t>
            </a:r>
            <a:r>
              <a:rPr lang="en-US" sz="1000" dirty="0">
                <a:latin typeface="Times New Roman" panose="02020603050405020304" pitchFamily="18" charset="0"/>
                <a:cs typeface="Times New Roman" panose="02020603050405020304" pitchFamily="18" charset="0"/>
              </a:rPr>
              <a:t> PM₂.₅, PM₁₀, NO₂, SO₂ (Ground Sensors)</a:t>
            </a:r>
          </a:p>
          <a:p>
            <a:r>
              <a:rPr lang="en-US" sz="1000" b="1" dirty="0">
                <a:latin typeface="Times New Roman" panose="02020603050405020304" pitchFamily="18" charset="0"/>
                <a:cs typeface="Times New Roman" panose="02020603050405020304" pitchFamily="18" charset="0"/>
              </a:rPr>
              <a:t>MERRA-2:</a:t>
            </a:r>
            <a:r>
              <a:rPr lang="en-US" sz="1000" dirty="0">
                <a:latin typeface="Times New Roman" panose="02020603050405020304" pitchFamily="18" charset="0"/>
                <a:cs typeface="Times New Roman" panose="02020603050405020304" pitchFamily="18" charset="0"/>
              </a:rPr>
              <a:t> Temp, Humidity, Wind, Pressure (Meteorological)</a:t>
            </a:r>
          </a:p>
          <a:p>
            <a:r>
              <a:rPr lang="en-US" sz="1000" b="1" dirty="0">
                <a:latin typeface="Times New Roman" panose="02020603050405020304" pitchFamily="18" charset="0"/>
                <a:cs typeface="Times New Roman" panose="02020603050405020304" pitchFamily="18" charset="0"/>
              </a:rPr>
              <a:t>INSAT-3DR:</a:t>
            </a:r>
            <a:r>
              <a:rPr lang="en-US" sz="1000" dirty="0">
                <a:latin typeface="Times New Roman" panose="02020603050405020304" pitchFamily="18" charset="0"/>
                <a:cs typeface="Times New Roman" panose="02020603050405020304" pitchFamily="18" charset="0"/>
              </a:rPr>
              <a:t> AOD, LST, Cloud Fraction (Satellite)</a:t>
            </a:r>
          </a:p>
          <a:p>
            <a:pPr marL="0" indent="0">
              <a:buNone/>
            </a:pPr>
            <a:r>
              <a:rPr lang="en-US" sz="1000" b="1" dirty="0">
                <a:latin typeface="Times New Roman" panose="02020603050405020304" pitchFamily="18" charset="0"/>
                <a:cs typeface="Times New Roman" panose="02020603050405020304" pitchFamily="18" charset="0"/>
              </a:rPr>
              <a:t>Functional Requirements</a:t>
            </a:r>
            <a:endParaRPr lang="en-US" sz="1000" dirty="0">
              <a:latin typeface="Times New Roman" panose="02020603050405020304" pitchFamily="18" charset="0"/>
              <a:cs typeface="Times New Roman" panose="02020603050405020304" pitchFamily="18" charset="0"/>
            </a:endParaRPr>
          </a:p>
          <a:p>
            <a:r>
              <a:rPr lang="en-US" sz="1000" dirty="0">
                <a:latin typeface="Times New Roman" panose="02020603050405020304" pitchFamily="18" charset="0"/>
                <a:cs typeface="Times New Roman" panose="02020603050405020304" pitchFamily="18" charset="0"/>
              </a:rPr>
              <a:t>Real-time AQI visualization (map + graph)</a:t>
            </a:r>
          </a:p>
          <a:p>
            <a:r>
              <a:rPr lang="en-US" sz="1000" dirty="0">
                <a:latin typeface="Times New Roman" panose="02020603050405020304" pitchFamily="18" charset="0"/>
                <a:cs typeface="Times New Roman" panose="02020603050405020304" pitchFamily="18" charset="0"/>
              </a:rPr>
              <a:t>1–72 </a:t>
            </a:r>
            <a:r>
              <a:rPr lang="en-US" sz="1000" dirty="0" err="1">
                <a:latin typeface="Times New Roman" panose="02020603050405020304" pitchFamily="18" charset="0"/>
                <a:cs typeface="Times New Roman" panose="02020603050405020304" pitchFamily="18" charset="0"/>
              </a:rPr>
              <a:t>hr</a:t>
            </a:r>
            <a:r>
              <a:rPr lang="en-US" sz="1000" dirty="0">
                <a:latin typeface="Times New Roman" panose="02020603050405020304" pitchFamily="18" charset="0"/>
                <a:cs typeface="Times New Roman" panose="02020603050405020304" pitchFamily="18" charset="0"/>
              </a:rPr>
              <a:t> AQI forecasting</a:t>
            </a:r>
          </a:p>
          <a:p>
            <a:r>
              <a:rPr lang="en-US" sz="1000" dirty="0">
                <a:latin typeface="Times New Roman" panose="02020603050405020304" pitchFamily="18" charset="0"/>
                <a:cs typeface="Times New Roman" panose="02020603050405020304" pitchFamily="18" charset="0"/>
              </a:rPr>
              <a:t>Personalized health alerts</a:t>
            </a:r>
          </a:p>
          <a:p>
            <a:r>
              <a:rPr lang="en-US" sz="1000" dirty="0">
                <a:latin typeface="Times New Roman" panose="02020603050405020304" pitchFamily="18" charset="0"/>
                <a:cs typeface="Times New Roman" panose="02020603050405020304" pitchFamily="18" charset="0"/>
              </a:rPr>
              <a:t>Threshold-based push notifications</a:t>
            </a:r>
          </a:p>
          <a:p>
            <a:r>
              <a:rPr lang="en-US" sz="1000" dirty="0">
                <a:latin typeface="Times New Roman" panose="02020603050405020304" pitchFamily="18" charset="0"/>
                <a:cs typeface="Times New Roman" panose="02020603050405020304" pitchFamily="18" charset="0"/>
              </a:rPr>
              <a:t>Data analytics &amp; policy simulation</a:t>
            </a:r>
          </a:p>
          <a:p>
            <a:r>
              <a:rPr lang="en-US" sz="1000" b="1" dirty="0">
                <a:latin typeface="Times New Roman" panose="02020603050405020304" pitchFamily="18" charset="0"/>
                <a:cs typeface="Times New Roman" panose="02020603050405020304" pitchFamily="18" charset="0"/>
              </a:rPr>
              <a:t>Non-Functional Requirements</a:t>
            </a:r>
            <a:endParaRPr lang="en-US" sz="1000" dirty="0">
              <a:latin typeface="Times New Roman" panose="02020603050405020304" pitchFamily="18" charset="0"/>
              <a:cs typeface="Times New Roman" panose="02020603050405020304" pitchFamily="18" charset="0"/>
            </a:endParaRPr>
          </a:p>
          <a:p>
            <a:r>
              <a:rPr lang="en-US" sz="1000" dirty="0">
                <a:latin typeface="Times New Roman" panose="02020603050405020304" pitchFamily="18" charset="0"/>
                <a:cs typeface="Times New Roman" panose="02020603050405020304" pitchFamily="18" charset="0"/>
              </a:rPr>
              <a:t>Accuracy ≥ 99.9% (R² ≥ 0.999)</a:t>
            </a:r>
          </a:p>
          <a:p>
            <a:r>
              <a:rPr lang="en-US" sz="1000" dirty="0">
                <a:latin typeface="Times New Roman" panose="02020603050405020304" pitchFamily="18" charset="0"/>
                <a:cs typeface="Times New Roman" panose="02020603050405020304" pitchFamily="18" charset="0"/>
              </a:rPr>
              <a:t>Response &lt; 10 </a:t>
            </a:r>
            <a:r>
              <a:rPr lang="en-US" sz="1000" dirty="0" err="1">
                <a:latin typeface="Times New Roman" panose="02020603050405020304" pitchFamily="18" charset="0"/>
                <a:cs typeface="Times New Roman" panose="02020603050405020304" pitchFamily="18" charset="0"/>
              </a:rPr>
              <a:t>ms</a:t>
            </a:r>
            <a:endParaRPr lang="en-US" sz="1000" dirty="0">
              <a:latin typeface="Times New Roman" panose="02020603050405020304" pitchFamily="18" charset="0"/>
              <a:cs typeface="Times New Roman" panose="02020603050405020304" pitchFamily="18" charset="0"/>
            </a:endParaRPr>
          </a:p>
          <a:p>
            <a:r>
              <a:rPr lang="en-US" sz="1000" dirty="0">
                <a:latin typeface="Times New Roman" panose="02020603050405020304" pitchFamily="18" charset="0"/>
                <a:cs typeface="Times New Roman" panose="02020603050405020304" pitchFamily="18" charset="0"/>
              </a:rPr>
              <a:t>Scalable (&gt; 10 K users)</a:t>
            </a:r>
          </a:p>
          <a:p>
            <a:r>
              <a:rPr lang="en-US" sz="1000" dirty="0">
                <a:latin typeface="Times New Roman" panose="02020603050405020304" pitchFamily="18" charset="0"/>
                <a:cs typeface="Times New Roman" panose="02020603050405020304" pitchFamily="18" charset="0"/>
              </a:rPr>
              <a:t>Secure &amp; energy-efficient APIs</a:t>
            </a:r>
          </a:p>
          <a:p>
            <a:endParaRPr lang="en-US" sz="1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8FFECFB3-CBD8-E58D-8952-3B820A58DAA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pic>
        <p:nvPicPr>
          <p:cNvPr id="10" name="Content Placeholder 9" descr="A screenshot of a computer&#10;&#10;AI-generated content may be incorrect.">
            <a:extLst>
              <a:ext uri="{FF2B5EF4-FFF2-40B4-BE49-F238E27FC236}">
                <a16:creationId xmlns:a16="http://schemas.microsoft.com/office/drawing/2014/main" id="{4FB6AA0D-B0D7-BB49-C771-F6BCADD93B86}"/>
              </a:ext>
            </a:extLst>
          </p:cNvPr>
          <p:cNvPicPr>
            <a:picLocks noGrp="1" noChangeAspect="1"/>
          </p:cNvPicPr>
          <p:nvPr>
            <p:ph sz="half" idx="2"/>
          </p:nvPr>
        </p:nvPicPr>
        <p:blipFill>
          <a:blip r:embed="rId2"/>
          <a:stretch>
            <a:fillRect/>
          </a:stretch>
        </p:blipFill>
        <p:spPr>
          <a:xfrm>
            <a:off x="6815668" y="1366393"/>
            <a:ext cx="5092966" cy="4792624"/>
          </a:xfrm>
        </p:spPr>
      </p:pic>
    </p:spTree>
    <p:extLst>
      <p:ext uri="{BB962C8B-B14F-4D97-AF65-F5344CB8AC3E}">
        <p14:creationId xmlns:p14="http://schemas.microsoft.com/office/powerpoint/2010/main" val="5764459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F121D-BC81-814E-DB35-63DA691126AF}"/>
              </a:ext>
            </a:extLst>
          </p:cNvPr>
          <p:cNvSpPr>
            <a:spLocks noGrp="1"/>
          </p:cNvSpPr>
          <p:nvPr>
            <p:ph type="title"/>
          </p:nvPr>
        </p:nvSpPr>
        <p:spPr>
          <a:xfrm>
            <a:off x="2592924" y="417664"/>
            <a:ext cx="8911687" cy="1280890"/>
          </a:xfrm>
        </p:spPr>
        <p:txBody>
          <a:bodyPr>
            <a:normAutofit fontScale="90000"/>
          </a:bodyPr>
          <a:lstStyle/>
          <a:p>
            <a:pPr algn="ctr"/>
            <a:r>
              <a:rPr lang="en-US" altLang="zh-CN" dirty="0">
                <a:solidFill>
                  <a:srgbClr val="000000"/>
                </a:solidFill>
                <a:latin typeface="Times New Roman" panose="02020603050405020304"/>
                <a:ea typeface="Times New Roman" panose="02020603050405020304"/>
              </a:rPr>
              <a:t>Screen Design with proper validations, Reports-Analytical &amp; graphical</a:t>
            </a:r>
            <a:br>
              <a:rPr lang="en-US" altLang="zh-CN" dirty="0">
                <a:solidFill>
                  <a:srgbClr val="000000"/>
                </a:solidFill>
                <a:latin typeface="Times New Roman" panose="02020603050405020304"/>
                <a:ea typeface="Times New Roman" panose="02020603050405020304"/>
              </a:rPr>
            </a:br>
            <a:endParaRPr lang="en-US" dirty="0"/>
          </a:p>
        </p:txBody>
      </p:sp>
      <p:pic>
        <p:nvPicPr>
          <p:cNvPr id="7" name="Content Placeholder 6">
            <a:extLst>
              <a:ext uri="{FF2B5EF4-FFF2-40B4-BE49-F238E27FC236}">
                <a16:creationId xmlns:a16="http://schemas.microsoft.com/office/drawing/2014/main" id="{EB74F0CC-F130-2F05-6F02-A5981D7E39D1}"/>
              </a:ext>
            </a:extLst>
          </p:cNvPr>
          <p:cNvPicPr>
            <a:picLocks noGrp="1" noChangeAspect="1"/>
          </p:cNvPicPr>
          <p:nvPr>
            <p:ph sz="half" idx="1"/>
          </p:nvPr>
        </p:nvPicPr>
        <p:blipFill>
          <a:blip r:embed="rId2"/>
          <a:stretch>
            <a:fillRect/>
          </a:stretch>
        </p:blipFill>
        <p:spPr>
          <a:xfrm>
            <a:off x="2120754" y="1575046"/>
            <a:ext cx="4313237" cy="2462281"/>
          </a:xfrm>
          <a:prstGeom prst="rect">
            <a:avLst/>
          </a:prstGeom>
        </p:spPr>
      </p:pic>
      <p:pic>
        <p:nvPicPr>
          <p:cNvPr id="9" name="Content Placeholder 8">
            <a:extLst>
              <a:ext uri="{FF2B5EF4-FFF2-40B4-BE49-F238E27FC236}">
                <a16:creationId xmlns:a16="http://schemas.microsoft.com/office/drawing/2014/main" id="{5D35FDE6-41A3-5C06-8004-BC1A525EB7A2}"/>
              </a:ext>
            </a:extLst>
          </p:cNvPr>
          <p:cNvPicPr>
            <a:picLocks noGrp="1" noChangeAspect="1"/>
          </p:cNvPicPr>
          <p:nvPr>
            <p:ph sz="half" idx="2"/>
          </p:nvPr>
        </p:nvPicPr>
        <p:blipFill>
          <a:blip r:embed="rId3"/>
          <a:stretch>
            <a:fillRect/>
          </a:stretch>
        </p:blipFill>
        <p:spPr>
          <a:xfrm>
            <a:off x="6906161" y="1575046"/>
            <a:ext cx="4698395" cy="2338773"/>
          </a:xfrm>
          <a:prstGeom prst="rect">
            <a:avLst/>
          </a:prstGeom>
        </p:spPr>
      </p:pic>
      <p:sp>
        <p:nvSpPr>
          <p:cNvPr id="5" name="Slide Number Placeholder 4">
            <a:extLst>
              <a:ext uri="{FF2B5EF4-FFF2-40B4-BE49-F238E27FC236}">
                <a16:creationId xmlns:a16="http://schemas.microsoft.com/office/drawing/2014/main" id="{902E3D37-B05A-C45F-7D90-FF55270D28E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pic>
        <p:nvPicPr>
          <p:cNvPr id="11" name="Picture 10">
            <a:extLst>
              <a:ext uri="{FF2B5EF4-FFF2-40B4-BE49-F238E27FC236}">
                <a16:creationId xmlns:a16="http://schemas.microsoft.com/office/drawing/2014/main" id="{7071A167-8B5C-D30D-F9C9-4EBF457685C6}"/>
              </a:ext>
            </a:extLst>
          </p:cNvPr>
          <p:cNvPicPr>
            <a:picLocks noChangeAspect="1"/>
          </p:cNvPicPr>
          <p:nvPr/>
        </p:nvPicPr>
        <p:blipFill>
          <a:blip r:embed="rId4"/>
          <a:stretch>
            <a:fillRect/>
          </a:stretch>
        </p:blipFill>
        <p:spPr>
          <a:xfrm>
            <a:off x="1986800" y="4175097"/>
            <a:ext cx="4804980" cy="2530503"/>
          </a:xfrm>
          <a:prstGeom prst="rect">
            <a:avLst/>
          </a:prstGeom>
        </p:spPr>
      </p:pic>
      <p:pic>
        <p:nvPicPr>
          <p:cNvPr id="13" name="Picture 12">
            <a:extLst>
              <a:ext uri="{FF2B5EF4-FFF2-40B4-BE49-F238E27FC236}">
                <a16:creationId xmlns:a16="http://schemas.microsoft.com/office/drawing/2014/main" id="{2554A328-3443-2473-8692-FF0D0DE10624}"/>
              </a:ext>
            </a:extLst>
          </p:cNvPr>
          <p:cNvPicPr>
            <a:picLocks noChangeAspect="1"/>
          </p:cNvPicPr>
          <p:nvPr/>
        </p:nvPicPr>
        <p:blipFill>
          <a:blip r:embed="rId5"/>
          <a:stretch>
            <a:fillRect/>
          </a:stretch>
        </p:blipFill>
        <p:spPr>
          <a:xfrm>
            <a:off x="6791780" y="4100291"/>
            <a:ext cx="4804980" cy="2605309"/>
          </a:xfrm>
          <a:prstGeom prst="rect">
            <a:avLst/>
          </a:prstGeom>
        </p:spPr>
      </p:pic>
    </p:spTree>
    <p:extLst>
      <p:ext uri="{BB962C8B-B14F-4D97-AF65-F5344CB8AC3E}">
        <p14:creationId xmlns:p14="http://schemas.microsoft.com/office/powerpoint/2010/main" val="2318796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7D63D-50FA-E4CA-5BCC-0F54A8314C6F}"/>
              </a:ext>
            </a:extLst>
          </p:cNvPr>
          <p:cNvSpPr>
            <a:spLocks noGrp="1"/>
          </p:cNvSpPr>
          <p:nvPr>
            <p:ph type="title"/>
          </p:nvPr>
        </p:nvSpPr>
        <p:spPr>
          <a:xfrm>
            <a:off x="2618324" y="296701"/>
            <a:ext cx="8911687" cy="1280890"/>
          </a:xfrm>
        </p:spPr>
        <p:txBody>
          <a:bodyPr/>
          <a:lstStyle/>
          <a:p>
            <a:pPr marL="59055">
              <a:lnSpc>
                <a:spcPct val="114000"/>
              </a:lnSpc>
              <a:spcAft>
                <a:spcPct val="0"/>
              </a:spcAft>
            </a:pPr>
            <a:r>
              <a:rPr lang="en-US" altLang="zh-CN" dirty="0">
                <a:solidFill>
                  <a:srgbClr val="000000"/>
                </a:solidFill>
                <a:latin typeface="Times New Roman" panose="02020603050405020304"/>
                <a:ea typeface="Times New Roman" panose="02020603050405020304"/>
              </a:rPr>
              <a:t>3-4 Working Models, Publish Research Paper </a:t>
            </a:r>
          </a:p>
        </p:txBody>
      </p:sp>
      <p:pic>
        <p:nvPicPr>
          <p:cNvPr id="7" name="Content Placeholder 6">
            <a:extLst>
              <a:ext uri="{FF2B5EF4-FFF2-40B4-BE49-F238E27FC236}">
                <a16:creationId xmlns:a16="http://schemas.microsoft.com/office/drawing/2014/main" id="{3DD63F9B-05C1-8EFB-F465-1E6D0C0CA00F}"/>
              </a:ext>
            </a:extLst>
          </p:cNvPr>
          <p:cNvPicPr>
            <a:picLocks noGrp="1" noChangeAspect="1"/>
          </p:cNvPicPr>
          <p:nvPr>
            <p:ph sz="half" idx="1"/>
          </p:nvPr>
        </p:nvPicPr>
        <p:blipFill>
          <a:blip r:embed="rId2"/>
          <a:stretch>
            <a:fillRect/>
          </a:stretch>
        </p:blipFill>
        <p:spPr>
          <a:xfrm>
            <a:off x="1856002" y="1281165"/>
            <a:ext cx="4313237" cy="2271308"/>
          </a:xfrm>
          <a:prstGeom prst="rect">
            <a:avLst/>
          </a:prstGeom>
        </p:spPr>
      </p:pic>
      <p:pic>
        <p:nvPicPr>
          <p:cNvPr id="9" name="Content Placeholder 8">
            <a:extLst>
              <a:ext uri="{FF2B5EF4-FFF2-40B4-BE49-F238E27FC236}">
                <a16:creationId xmlns:a16="http://schemas.microsoft.com/office/drawing/2014/main" id="{0D72F6AB-CD2A-E442-835B-496F400312B1}"/>
              </a:ext>
            </a:extLst>
          </p:cNvPr>
          <p:cNvPicPr>
            <a:picLocks noGrp="1" noChangeAspect="1"/>
          </p:cNvPicPr>
          <p:nvPr>
            <p:ph sz="half" idx="2"/>
          </p:nvPr>
        </p:nvPicPr>
        <p:blipFill>
          <a:blip r:embed="rId3"/>
          <a:stretch>
            <a:fillRect/>
          </a:stretch>
        </p:blipFill>
        <p:spPr>
          <a:xfrm>
            <a:off x="6409762" y="1281165"/>
            <a:ext cx="4883700" cy="2071636"/>
          </a:xfrm>
          <a:prstGeom prst="rect">
            <a:avLst/>
          </a:prstGeom>
        </p:spPr>
      </p:pic>
      <p:sp>
        <p:nvSpPr>
          <p:cNvPr id="5" name="Slide Number Placeholder 4">
            <a:extLst>
              <a:ext uri="{FF2B5EF4-FFF2-40B4-BE49-F238E27FC236}">
                <a16:creationId xmlns:a16="http://schemas.microsoft.com/office/drawing/2014/main" id="{089E3688-795A-C592-41D2-AA8F711D713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pic>
        <p:nvPicPr>
          <p:cNvPr id="11" name="Picture 10">
            <a:extLst>
              <a:ext uri="{FF2B5EF4-FFF2-40B4-BE49-F238E27FC236}">
                <a16:creationId xmlns:a16="http://schemas.microsoft.com/office/drawing/2014/main" id="{E2D5B7CF-DF07-1000-ED45-D92CC34A943C}"/>
              </a:ext>
            </a:extLst>
          </p:cNvPr>
          <p:cNvPicPr>
            <a:picLocks noChangeAspect="1"/>
          </p:cNvPicPr>
          <p:nvPr/>
        </p:nvPicPr>
        <p:blipFill>
          <a:blip r:embed="rId4"/>
          <a:stretch>
            <a:fillRect/>
          </a:stretch>
        </p:blipFill>
        <p:spPr>
          <a:xfrm>
            <a:off x="1856002" y="3429000"/>
            <a:ext cx="4553760" cy="2368062"/>
          </a:xfrm>
          <a:prstGeom prst="rect">
            <a:avLst/>
          </a:prstGeom>
        </p:spPr>
      </p:pic>
      <p:pic>
        <p:nvPicPr>
          <p:cNvPr id="15" name="Picture 14">
            <a:extLst>
              <a:ext uri="{FF2B5EF4-FFF2-40B4-BE49-F238E27FC236}">
                <a16:creationId xmlns:a16="http://schemas.microsoft.com/office/drawing/2014/main" id="{7766AE4A-3A04-9487-4F1C-4529488A2B44}"/>
              </a:ext>
            </a:extLst>
          </p:cNvPr>
          <p:cNvPicPr>
            <a:picLocks noChangeAspect="1"/>
          </p:cNvPicPr>
          <p:nvPr/>
        </p:nvPicPr>
        <p:blipFill>
          <a:blip r:embed="rId5"/>
          <a:stretch>
            <a:fillRect/>
          </a:stretch>
        </p:blipFill>
        <p:spPr>
          <a:xfrm>
            <a:off x="6169239" y="3352801"/>
            <a:ext cx="5124223" cy="2368062"/>
          </a:xfrm>
          <a:prstGeom prst="rect">
            <a:avLst/>
          </a:prstGeom>
        </p:spPr>
      </p:pic>
      <p:sp>
        <p:nvSpPr>
          <p:cNvPr id="17" name="TextBox 16">
            <a:extLst>
              <a:ext uri="{FF2B5EF4-FFF2-40B4-BE49-F238E27FC236}">
                <a16:creationId xmlns:a16="http://schemas.microsoft.com/office/drawing/2014/main" id="{5D1882AC-E6E1-5581-2188-3DB36B9D6928}"/>
              </a:ext>
            </a:extLst>
          </p:cNvPr>
          <p:cNvSpPr txBox="1"/>
          <p:nvPr/>
        </p:nvSpPr>
        <p:spPr>
          <a:xfrm>
            <a:off x="2362199" y="6098745"/>
            <a:ext cx="9000067" cy="307777"/>
          </a:xfrm>
          <a:prstGeom prst="rect">
            <a:avLst/>
          </a:prstGeom>
          <a:noFill/>
        </p:spPr>
        <p:txBody>
          <a:bodyPr wrap="square">
            <a:spAutoFit/>
          </a:bodyPr>
          <a:lstStyle/>
          <a:p>
            <a:r>
              <a:rPr lang="en-US" altLang="zh-CN" dirty="0">
                <a:solidFill>
                  <a:srgbClr val="000000"/>
                </a:solidFill>
                <a:latin typeface="Times New Roman" panose="02020603050405020304"/>
                <a:ea typeface="Times New Roman" panose="02020603050405020304"/>
              </a:rPr>
              <a:t>Research Paper link </a:t>
            </a:r>
            <a:r>
              <a:rPr lang="en-US" altLang="zh-CN" dirty="0">
                <a:latin typeface="Times New Roman" panose="02020603050405020304"/>
                <a:ea typeface="Times New Roman" panose="02020603050405020304"/>
              </a:rPr>
              <a:t>: </a:t>
            </a:r>
            <a:r>
              <a:rPr lang="en-US" altLang="zh-CN" b="1" dirty="0">
                <a:solidFill>
                  <a:srgbClr val="FF0000"/>
                </a:solidFill>
                <a:latin typeface="Times New Roman" panose="02020603050405020304"/>
                <a:ea typeface="Times New Roman" panose="02020603050405020304"/>
                <a:hlinkClick r:id="rId6">
                  <a:extLst>
                    <a:ext uri="{A12FA001-AC4F-418D-AE19-62706E023703}">
                      <ahyp:hlinkClr xmlns:ahyp="http://schemas.microsoft.com/office/drawing/2018/hyperlinkcolor" val="tx"/>
                    </a:ext>
                  </a:extLst>
                </a:hlinkClick>
              </a:rPr>
              <a:t>https://drive.google.com/file/d/1uaLhwyT1dVbLdGUDsadEisyZ2833nuiq/view?usp=sharing </a:t>
            </a:r>
            <a:endParaRPr lang="en-US" b="1" dirty="0">
              <a:solidFill>
                <a:srgbClr val="FF0000"/>
              </a:solidFill>
            </a:endParaRPr>
          </a:p>
        </p:txBody>
      </p:sp>
    </p:spTree>
    <p:extLst>
      <p:ext uri="{BB962C8B-B14F-4D97-AF65-F5344CB8AC3E}">
        <p14:creationId xmlns:p14="http://schemas.microsoft.com/office/powerpoint/2010/main" val="8526058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71B76-9EB0-817A-138F-522A090B4ED9}"/>
              </a:ext>
            </a:extLst>
          </p:cNvPr>
          <p:cNvSpPr>
            <a:spLocks noGrp="1"/>
          </p:cNvSpPr>
          <p:nvPr>
            <p:ph type="title"/>
          </p:nvPr>
        </p:nvSpPr>
        <p:spPr>
          <a:xfrm>
            <a:off x="2643724" y="329899"/>
            <a:ext cx="8911687" cy="1280890"/>
          </a:xfrm>
        </p:spPr>
        <p:txBody>
          <a:bodyPr/>
          <a:lstStyle/>
          <a:p>
            <a:pPr algn="ctr"/>
            <a:r>
              <a:rPr lang="en-US" altLang="zh-CN" dirty="0">
                <a:solidFill>
                  <a:srgbClr val="000000"/>
                </a:solidFill>
                <a:latin typeface="Times New Roman" panose="02020603050405020304"/>
                <a:ea typeface="Times New Roman" panose="02020603050405020304"/>
              </a:rPr>
              <a:t>30 – 40% Coding documentation</a:t>
            </a:r>
            <a:br>
              <a:rPr lang="en-US" altLang="zh-CN" dirty="0">
                <a:solidFill>
                  <a:srgbClr val="000000"/>
                </a:solidFill>
                <a:latin typeface="Times New Roman" panose="02020603050405020304"/>
                <a:ea typeface="Times New Roman" panose="02020603050405020304"/>
              </a:rPr>
            </a:br>
            <a:endParaRPr lang="en-US" dirty="0"/>
          </a:p>
        </p:txBody>
      </p:sp>
      <p:pic>
        <p:nvPicPr>
          <p:cNvPr id="7" name="Content Placeholder 6">
            <a:extLst>
              <a:ext uri="{FF2B5EF4-FFF2-40B4-BE49-F238E27FC236}">
                <a16:creationId xmlns:a16="http://schemas.microsoft.com/office/drawing/2014/main" id="{DE8B965E-ACFA-4431-319E-0EDE99182F64}"/>
              </a:ext>
            </a:extLst>
          </p:cNvPr>
          <p:cNvPicPr>
            <a:picLocks noGrp="1" noChangeAspect="1"/>
          </p:cNvPicPr>
          <p:nvPr>
            <p:ph sz="half" idx="1"/>
          </p:nvPr>
        </p:nvPicPr>
        <p:blipFill>
          <a:blip r:embed="rId2"/>
          <a:stretch>
            <a:fillRect/>
          </a:stretch>
        </p:blipFill>
        <p:spPr>
          <a:xfrm>
            <a:off x="2723431" y="1020233"/>
            <a:ext cx="8613436" cy="4817533"/>
          </a:xfrm>
          <a:prstGeom prst="rect">
            <a:avLst/>
          </a:prstGeom>
        </p:spPr>
      </p:pic>
      <p:sp>
        <p:nvSpPr>
          <p:cNvPr id="5" name="Slide Number Placeholder 4">
            <a:extLst>
              <a:ext uri="{FF2B5EF4-FFF2-40B4-BE49-F238E27FC236}">
                <a16:creationId xmlns:a16="http://schemas.microsoft.com/office/drawing/2014/main" id="{752346ED-E7E4-C752-2647-8924CA16B59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
        <p:nvSpPr>
          <p:cNvPr id="9" name="TextBox 8">
            <a:extLst>
              <a:ext uri="{FF2B5EF4-FFF2-40B4-BE49-F238E27FC236}">
                <a16:creationId xmlns:a16="http://schemas.microsoft.com/office/drawing/2014/main" id="{522A934D-9279-7A93-5409-3996FC33E609}"/>
              </a:ext>
            </a:extLst>
          </p:cNvPr>
          <p:cNvSpPr txBox="1"/>
          <p:nvPr/>
        </p:nvSpPr>
        <p:spPr>
          <a:xfrm>
            <a:off x="2836333" y="6143423"/>
            <a:ext cx="8613436" cy="307777"/>
          </a:xfrm>
          <a:prstGeom prst="rect">
            <a:avLst/>
          </a:prstGeom>
          <a:noFill/>
        </p:spPr>
        <p:txBody>
          <a:bodyPr wrap="square">
            <a:spAutoFit/>
          </a:bodyPr>
          <a:lstStyle/>
          <a:p>
            <a:r>
              <a:rPr lang="en-US" dirty="0" err="1">
                <a:latin typeface="Times New Roman" panose="02020603050405020304" pitchFamily="18" charset="0"/>
                <a:cs typeface="Times New Roman" panose="02020603050405020304" pitchFamily="18" charset="0"/>
              </a:rPr>
              <a:t>Github</a:t>
            </a:r>
            <a:r>
              <a:rPr lang="en-US" dirty="0">
                <a:latin typeface="Times New Roman" panose="02020603050405020304" pitchFamily="18" charset="0"/>
                <a:cs typeface="Times New Roman" panose="02020603050405020304" pitchFamily="18" charset="0"/>
              </a:rPr>
              <a:t> Profile link: </a:t>
            </a:r>
            <a:r>
              <a:rPr lang="en-US" b="1" dirty="0">
                <a:solidFill>
                  <a:srgbClr val="FF000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https://github.com/Gurjas2112/Vayu_Drishti-Real-Time-Air-Quality-Visualizer-App</a:t>
            </a:r>
            <a:endParaRPr lang="en-US"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5605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
        <p:nvSpPr>
          <p:cNvPr id="182" name="Google Shape;182;p19"/>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latin typeface="Times New Roman" panose="02020603050405020304" pitchFamily="18" charset="0"/>
                <a:cs typeface="Times New Roman" panose="02020603050405020304" pitchFamily="18" charset="0"/>
              </a:rPr>
              <a:t>PES MODERN COLLEGE OF ENGINEERING, MCA DEPARTMENT, A.Y. 2025-26</a:t>
            </a:r>
            <a:endParaRPr dirty="0">
              <a:latin typeface="Times New Roman" panose="02020603050405020304" pitchFamily="18" charset="0"/>
              <a:cs typeface="Times New Roman" panose="02020603050405020304" pitchFamily="18" charset="0"/>
            </a:endParaRPr>
          </a:p>
        </p:txBody>
      </p:sp>
      <p:graphicFrame>
        <p:nvGraphicFramePr>
          <p:cNvPr id="5" name="Table 4"/>
          <p:cNvGraphicFramePr/>
          <p:nvPr>
            <p:custDataLst>
              <p:tags r:id="rId1"/>
            </p:custDataLst>
            <p:extLst>
              <p:ext uri="{D42A27DB-BD31-4B8C-83A1-F6EECF244321}">
                <p14:modId xmlns:p14="http://schemas.microsoft.com/office/powerpoint/2010/main" val="1761536314"/>
              </p:ext>
            </p:extLst>
          </p:nvPr>
        </p:nvGraphicFramePr>
        <p:xfrm>
          <a:off x="1797685" y="788035"/>
          <a:ext cx="9868535" cy="4661980"/>
        </p:xfrm>
        <a:graphic>
          <a:graphicData uri="http://schemas.openxmlformats.org/drawingml/2006/table">
            <a:tbl>
              <a:tblPr/>
              <a:tblGrid>
                <a:gridCol w="1614170">
                  <a:extLst>
                    <a:ext uri="{9D8B030D-6E8A-4147-A177-3AD203B41FA5}">
                      <a16:colId xmlns:a16="http://schemas.microsoft.com/office/drawing/2014/main" val="20000"/>
                    </a:ext>
                  </a:extLst>
                </a:gridCol>
                <a:gridCol w="8136255">
                  <a:extLst>
                    <a:ext uri="{9D8B030D-6E8A-4147-A177-3AD203B41FA5}">
                      <a16:colId xmlns:a16="http://schemas.microsoft.com/office/drawing/2014/main" val="20001"/>
                    </a:ext>
                  </a:extLst>
                </a:gridCol>
                <a:gridCol w="118110">
                  <a:extLst>
                    <a:ext uri="{9D8B030D-6E8A-4147-A177-3AD203B41FA5}">
                      <a16:colId xmlns:a16="http://schemas.microsoft.com/office/drawing/2014/main" val="20002"/>
                    </a:ext>
                  </a:extLst>
                </a:gridCol>
              </a:tblGrid>
              <a:tr h="824865">
                <a:tc>
                  <a:txBody>
                    <a:bodyPr/>
                    <a:lstStyle/>
                    <a:p>
                      <a:pPr marL="59055" indent="0" algn="ctr">
                        <a:lnSpc>
                          <a:spcPct val="114000"/>
                        </a:lnSpc>
                        <a:spcBef>
                          <a:spcPct val="0"/>
                        </a:spcBef>
                        <a:spcAft>
                          <a:spcPct val="0"/>
                        </a:spcAft>
                      </a:pPr>
                      <a:r>
                        <a:rPr lang="en-US" altLang="zh-CN" sz="2000" b="1">
                          <a:solidFill>
                            <a:srgbClr val="000000"/>
                          </a:solidFill>
                          <a:latin typeface="Times New Roman" panose="02020603050405020304"/>
                          <a:ea typeface="Times New Roman" panose="02020603050405020304"/>
                        </a:rPr>
                        <a:t>SR.NO</a:t>
                      </a:r>
                    </a:p>
                  </a:txBody>
                  <a:tcPr marL="68580" marR="68580" marT="0" marB="0" anchor="b">
                    <a:lnL>
                      <a:noFill/>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solidFill>
                      <a:srgbClr val="FFFF00"/>
                    </a:solidFill>
                  </a:tcPr>
                </a:tc>
                <a:tc>
                  <a:txBody>
                    <a:bodyPr/>
                    <a:lstStyle/>
                    <a:p>
                      <a:pPr marL="59055" indent="0" algn="ctr">
                        <a:lnSpc>
                          <a:spcPct val="114000"/>
                        </a:lnSpc>
                        <a:spcBef>
                          <a:spcPct val="0"/>
                        </a:spcBef>
                        <a:spcAft>
                          <a:spcPct val="0"/>
                        </a:spcAft>
                      </a:pPr>
                      <a:r>
                        <a:rPr lang="en-US" altLang="zh-CN" sz="2000" b="1">
                          <a:solidFill>
                            <a:srgbClr val="000000"/>
                          </a:solidFill>
                          <a:latin typeface="Times New Roman" panose="02020603050405020304"/>
                          <a:ea typeface="Times New Roman" panose="02020603050405020304"/>
                        </a:rPr>
                        <a:t>Progress Report IV</a:t>
                      </a: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a:noFill/>
                    </a:lnT>
                    <a:lnB w="6350" cap="flat" cmpd="sng">
                      <a:solidFill>
                        <a:srgbClr val="000008"/>
                      </a:solidFill>
                      <a:prstDash val="solid"/>
                      <a:headEnd type="none" w="med" len="med"/>
                      <a:tailEnd type="none" w="med" len="med"/>
                    </a:lnB>
                    <a:solidFill>
                      <a:srgbClr val="FFFF00"/>
                    </a:solidFill>
                  </a:tcPr>
                </a:tc>
                <a:tc>
                  <a:txBody>
                    <a:bodyPr/>
                    <a:lstStyle/>
                    <a:p>
                      <a:endParaRPr/>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0"/>
                  </a:ext>
                </a:extLst>
              </a:tr>
              <a:tr h="824865">
                <a:tc>
                  <a:txBody>
                    <a:bodyPr/>
                    <a:lstStyle/>
                    <a:p>
                      <a:pPr marL="59055" indent="0" algn="ctr">
                        <a:lnSpc>
                          <a:spcPct val="114000"/>
                        </a:lnSpc>
                        <a:spcBef>
                          <a:spcPct val="0"/>
                        </a:spcBef>
                        <a:spcAft>
                          <a:spcPct val="0"/>
                        </a:spcAft>
                      </a:pPr>
                      <a:r>
                        <a:rPr lang="en-US" altLang="zh-CN" sz="2000">
                          <a:solidFill>
                            <a:srgbClr val="000000"/>
                          </a:solidFill>
                          <a:latin typeface="Times New Roman" panose="02020603050405020304"/>
                          <a:ea typeface="Times New Roman" panose="02020603050405020304"/>
                        </a:rPr>
                        <a:t>1</a:t>
                      </a:r>
                    </a:p>
                  </a:txBody>
                  <a:tcPr marL="68580" marR="68580" marT="0" marB="0" anchor="b">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59055" indent="0">
                        <a:lnSpc>
                          <a:spcPct val="114000"/>
                        </a:lnSpc>
                        <a:spcBef>
                          <a:spcPct val="0"/>
                        </a:spcBef>
                        <a:spcAft>
                          <a:spcPct val="0"/>
                        </a:spcAft>
                      </a:pPr>
                      <a:r>
                        <a:rPr lang="en-US" altLang="zh-CN" sz="2000" dirty="0">
                          <a:solidFill>
                            <a:srgbClr val="000000"/>
                          </a:solidFill>
                          <a:latin typeface="Times New Roman" panose="02020603050405020304"/>
                          <a:ea typeface="Times New Roman" panose="02020603050405020304"/>
                        </a:rPr>
                        <a:t> Test Data (screenshot)</a:t>
                      </a: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endParaRPr/>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1"/>
                  </a:ext>
                </a:extLst>
              </a:tr>
              <a:tr h="824865">
                <a:tc>
                  <a:txBody>
                    <a:bodyPr/>
                    <a:lstStyle/>
                    <a:p>
                      <a:pPr marL="59055" indent="0" algn="ctr">
                        <a:lnSpc>
                          <a:spcPct val="114000"/>
                        </a:lnSpc>
                        <a:spcBef>
                          <a:spcPct val="0"/>
                        </a:spcBef>
                        <a:spcAft>
                          <a:spcPct val="0"/>
                        </a:spcAft>
                      </a:pPr>
                      <a:r>
                        <a:rPr lang="en-US" altLang="zh-CN" sz="2000">
                          <a:solidFill>
                            <a:srgbClr val="000000"/>
                          </a:solidFill>
                          <a:latin typeface="Times New Roman" panose="02020603050405020304"/>
                          <a:ea typeface="Times New Roman" panose="02020603050405020304"/>
                        </a:rPr>
                        <a:t>2</a:t>
                      </a:r>
                    </a:p>
                  </a:txBody>
                  <a:tcPr marL="68580" marR="68580" marT="0" marB="0" anchor="b">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59055" indent="0">
                        <a:lnSpc>
                          <a:spcPct val="114000"/>
                        </a:lnSpc>
                        <a:spcBef>
                          <a:spcPct val="0"/>
                        </a:spcBef>
                        <a:spcAft>
                          <a:spcPct val="0"/>
                        </a:spcAft>
                      </a:pPr>
                      <a:r>
                        <a:rPr lang="en-US" altLang="zh-CN" sz="2000" dirty="0">
                          <a:solidFill>
                            <a:srgbClr val="000000"/>
                          </a:solidFill>
                          <a:latin typeface="Times New Roman" panose="02020603050405020304"/>
                          <a:ea typeface="Times New Roman" panose="02020603050405020304"/>
                        </a:rPr>
                        <a:t>User Manual</a:t>
                      </a: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endParaRPr/>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2"/>
                  </a:ext>
                </a:extLst>
              </a:tr>
              <a:tr h="824865">
                <a:tc>
                  <a:txBody>
                    <a:bodyPr/>
                    <a:lstStyle/>
                    <a:p>
                      <a:pPr marL="59055" indent="0" algn="ctr">
                        <a:lnSpc>
                          <a:spcPct val="114000"/>
                        </a:lnSpc>
                        <a:spcBef>
                          <a:spcPct val="0"/>
                        </a:spcBef>
                        <a:spcAft>
                          <a:spcPct val="0"/>
                        </a:spcAft>
                      </a:pPr>
                      <a:r>
                        <a:rPr lang="en-US" altLang="zh-CN" sz="2000">
                          <a:solidFill>
                            <a:srgbClr val="000000"/>
                          </a:solidFill>
                          <a:latin typeface="Times New Roman" panose="02020603050405020304"/>
                          <a:ea typeface="Times New Roman" panose="02020603050405020304"/>
                        </a:rPr>
                        <a:t>3</a:t>
                      </a:r>
                    </a:p>
                  </a:txBody>
                  <a:tcPr marL="68580" marR="68580" marT="0" marB="0" anchor="b">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59055" indent="0">
                        <a:lnSpc>
                          <a:spcPct val="114000"/>
                        </a:lnSpc>
                        <a:spcBef>
                          <a:spcPct val="0"/>
                        </a:spcBef>
                        <a:spcAft>
                          <a:spcPct val="0"/>
                        </a:spcAft>
                      </a:pPr>
                      <a:r>
                        <a:rPr lang="en-US" altLang="zh-CN" sz="2000" dirty="0">
                          <a:solidFill>
                            <a:srgbClr val="000000"/>
                          </a:solidFill>
                          <a:latin typeface="Times New Roman" panose="02020603050405020304"/>
                          <a:ea typeface="Times New Roman" panose="02020603050405020304"/>
                        </a:rPr>
                        <a:t>Bibliography, References</a:t>
                      </a: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endParaRPr/>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3"/>
                  </a:ext>
                </a:extLst>
              </a:tr>
              <a:tr h="824865">
                <a:tc>
                  <a:txBody>
                    <a:bodyPr/>
                    <a:lstStyle/>
                    <a:p>
                      <a:pPr marL="59055" indent="0" algn="ctr">
                        <a:lnSpc>
                          <a:spcPct val="114000"/>
                        </a:lnSpc>
                        <a:spcBef>
                          <a:spcPct val="0"/>
                        </a:spcBef>
                        <a:spcAft>
                          <a:spcPct val="0"/>
                        </a:spcAft>
                      </a:pPr>
                      <a:r>
                        <a:rPr lang="en-US" altLang="zh-CN" sz="2000" dirty="0">
                          <a:solidFill>
                            <a:srgbClr val="000000"/>
                          </a:solidFill>
                          <a:latin typeface="Times New Roman" panose="02020603050405020304"/>
                          <a:ea typeface="Times New Roman" panose="02020603050405020304"/>
                        </a:rPr>
                        <a:t>4</a:t>
                      </a:r>
                    </a:p>
                  </a:txBody>
                  <a:tcPr marL="68580" marR="68580" marT="0" marB="0" anchor="b">
                    <a:lnL>
                      <a:noFill/>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59055" marR="0" lvl="0" indent="0" algn="l" defTabSz="457200" rtl="0" eaLnBrk="1" fontAlgn="auto" latinLnBrk="0" hangingPunct="1">
                        <a:lnSpc>
                          <a:spcPct val="114000"/>
                        </a:lnSpc>
                        <a:spcBef>
                          <a:spcPct val="0"/>
                        </a:spcBef>
                        <a:spcAft>
                          <a:spcPct val="0"/>
                        </a:spcAft>
                        <a:buClrTx/>
                        <a:buSzTx/>
                        <a:buFontTx/>
                        <a:buNone/>
                        <a:tabLst/>
                        <a:defRPr/>
                      </a:pPr>
                      <a:endParaRPr lang="en-US" altLang="zh-CN" sz="2000" dirty="0">
                        <a:solidFill>
                          <a:srgbClr val="000000"/>
                        </a:solidFill>
                        <a:latin typeface="Times New Roman" panose="02020603050405020304"/>
                        <a:ea typeface="Times New Roman" panose="02020603050405020304"/>
                      </a:endParaRPr>
                    </a:p>
                    <a:p>
                      <a:pPr marL="59055" marR="0" lvl="0" indent="0" algn="l" defTabSz="457200" rtl="0" eaLnBrk="1" fontAlgn="auto" latinLnBrk="0" hangingPunct="1">
                        <a:lnSpc>
                          <a:spcPct val="114000"/>
                        </a:lnSpc>
                        <a:spcBef>
                          <a:spcPct val="0"/>
                        </a:spcBef>
                        <a:spcAft>
                          <a:spcPct val="0"/>
                        </a:spcAft>
                        <a:buClrTx/>
                        <a:buSzTx/>
                        <a:buFontTx/>
                        <a:buNone/>
                        <a:tabLst/>
                        <a:defRPr/>
                      </a:pPr>
                      <a:r>
                        <a:rPr lang="en-US" altLang="zh-CN" sz="2000" dirty="0">
                          <a:solidFill>
                            <a:srgbClr val="000000"/>
                          </a:solidFill>
                          <a:latin typeface="Times New Roman" panose="02020603050405020304"/>
                          <a:ea typeface="Times New Roman" panose="02020603050405020304"/>
                        </a:rPr>
                        <a:t>Final copy of Research Paper, Spiral Copy Submission &amp; Project Execution(soft copy)</a:t>
                      </a:r>
                    </a:p>
                    <a:p>
                      <a:pPr marL="59055" indent="0" algn="l">
                        <a:lnSpc>
                          <a:spcPct val="114000"/>
                        </a:lnSpc>
                        <a:spcBef>
                          <a:spcPct val="0"/>
                        </a:spcBef>
                        <a:spcAft>
                          <a:spcPct val="0"/>
                        </a:spcAft>
                      </a:pPr>
                      <a:endParaRPr lang="en-US" altLang="zh-CN" sz="2000" dirty="0">
                        <a:solidFill>
                          <a:srgbClr val="000000"/>
                        </a:solidFill>
                        <a:latin typeface="Times New Roman" panose="02020603050405020304"/>
                        <a:ea typeface="Times New Roman" panose="02020603050405020304"/>
                      </a:endParaRPr>
                    </a:p>
                  </a:txBody>
                  <a:tcPr marL="68580" marR="68580" marT="0" marB="0" anchor="b">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endParaRPr dirty="0"/>
                    </a:p>
                  </a:txBody>
                  <a:tcPr marL="59055" marR="0" marT="0" marB="0" anchor="ctr">
                    <a:lnL w="6350" cap="flat" cmpd="sng">
                      <a:solidFill>
                        <a:srgbClr val="000008"/>
                      </a:solidFill>
                      <a:prstDash val="solid"/>
                      <a:headEnd type="none" w="med" len="med"/>
                      <a:tailEnd type="none" w="med" len="med"/>
                    </a:lnL>
                    <a:lnR>
                      <a:noFill/>
                    </a:lnR>
                    <a:lnT>
                      <a:noFill/>
                    </a:lnT>
                    <a:lnB>
                      <a:no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D16E9-00B8-5DD7-B284-43963FDE2B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CD7DCA-E6F5-6BFB-CD8A-861C9A6BFDF4}"/>
              </a:ext>
            </a:extLst>
          </p:cNvPr>
          <p:cNvSpPr>
            <a:spLocks noGrp="1"/>
          </p:cNvSpPr>
          <p:nvPr>
            <p:ph type="title"/>
          </p:nvPr>
        </p:nvSpPr>
        <p:spPr>
          <a:xfrm>
            <a:off x="2423591" y="2368243"/>
            <a:ext cx="8911687" cy="1280890"/>
          </a:xfrm>
        </p:spPr>
        <p:txBody>
          <a:bodyPr/>
          <a:lstStyle/>
          <a:p>
            <a:pPr algn="ctr"/>
            <a:r>
              <a:rPr lang="en-US" b="1" dirty="0">
                <a:latin typeface="Times New Roman" panose="02020603050405020304" pitchFamily="18" charset="0"/>
                <a:cs typeface="Times New Roman" panose="02020603050405020304" pitchFamily="18" charset="0"/>
              </a:rPr>
              <a:t>PROGRESS REPORT-IV</a:t>
            </a:r>
          </a:p>
        </p:txBody>
      </p:sp>
      <p:sp>
        <p:nvSpPr>
          <p:cNvPr id="5" name="Slide Number Placeholder 4">
            <a:extLst>
              <a:ext uri="{FF2B5EF4-FFF2-40B4-BE49-F238E27FC236}">
                <a16:creationId xmlns:a16="http://schemas.microsoft.com/office/drawing/2014/main" id="{106E5C98-1437-842C-F7D3-7FA0A30770C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extLst>
      <p:ext uri="{BB962C8B-B14F-4D97-AF65-F5344CB8AC3E}">
        <p14:creationId xmlns:p14="http://schemas.microsoft.com/office/powerpoint/2010/main" val="1809595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097E9-8078-F13D-201C-615A22B214E0}"/>
              </a:ext>
            </a:extLst>
          </p:cNvPr>
          <p:cNvSpPr>
            <a:spLocks noGrp="1"/>
          </p:cNvSpPr>
          <p:nvPr>
            <p:ph type="title"/>
          </p:nvPr>
        </p:nvSpPr>
        <p:spPr>
          <a:xfrm>
            <a:off x="2684530" y="258985"/>
            <a:ext cx="8911687" cy="1280890"/>
          </a:xfrm>
        </p:spPr>
        <p:txBody>
          <a:bodyPr/>
          <a:lstStyle/>
          <a:p>
            <a:pPr algn="ctr"/>
            <a:r>
              <a:rPr lang="en-US" altLang="zh-CN" dirty="0">
                <a:solidFill>
                  <a:srgbClr val="000000"/>
                </a:solidFill>
                <a:latin typeface="Times New Roman" panose="02020603050405020304"/>
                <a:ea typeface="Times New Roman" panose="02020603050405020304"/>
              </a:rPr>
              <a:t>Test Data (screenshot)</a:t>
            </a:r>
            <a:endParaRPr lang="en-US" dirty="0"/>
          </a:p>
        </p:txBody>
      </p:sp>
      <p:sp>
        <p:nvSpPr>
          <p:cNvPr id="5" name="Slide Number Placeholder 4">
            <a:extLst>
              <a:ext uri="{FF2B5EF4-FFF2-40B4-BE49-F238E27FC236}">
                <a16:creationId xmlns:a16="http://schemas.microsoft.com/office/drawing/2014/main" id="{94388C89-1D8F-84BC-F4B6-354E2283E6C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pic>
        <p:nvPicPr>
          <p:cNvPr id="11" name="Picture 10">
            <a:extLst>
              <a:ext uri="{FF2B5EF4-FFF2-40B4-BE49-F238E27FC236}">
                <a16:creationId xmlns:a16="http://schemas.microsoft.com/office/drawing/2014/main" id="{6536F200-2DC9-B5A6-55AA-F372D695CB96}"/>
              </a:ext>
            </a:extLst>
          </p:cNvPr>
          <p:cNvPicPr>
            <a:picLocks noChangeAspect="1"/>
          </p:cNvPicPr>
          <p:nvPr/>
        </p:nvPicPr>
        <p:blipFill>
          <a:blip r:embed="rId2"/>
          <a:stretch>
            <a:fillRect/>
          </a:stretch>
        </p:blipFill>
        <p:spPr>
          <a:xfrm>
            <a:off x="8228778" y="1313898"/>
            <a:ext cx="3480622" cy="3778250"/>
          </a:xfrm>
          <a:prstGeom prst="rect">
            <a:avLst/>
          </a:prstGeom>
        </p:spPr>
      </p:pic>
      <p:pic>
        <p:nvPicPr>
          <p:cNvPr id="13" name="Picture 12">
            <a:extLst>
              <a:ext uri="{FF2B5EF4-FFF2-40B4-BE49-F238E27FC236}">
                <a16:creationId xmlns:a16="http://schemas.microsoft.com/office/drawing/2014/main" id="{80CD1D34-5239-13DD-3C31-35257C8353DD}"/>
              </a:ext>
            </a:extLst>
          </p:cNvPr>
          <p:cNvPicPr>
            <a:picLocks noChangeAspect="1"/>
          </p:cNvPicPr>
          <p:nvPr/>
        </p:nvPicPr>
        <p:blipFill>
          <a:blip r:embed="rId3"/>
          <a:stretch>
            <a:fillRect/>
          </a:stretch>
        </p:blipFill>
        <p:spPr>
          <a:xfrm>
            <a:off x="2684530" y="1464550"/>
            <a:ext cx="5329550" cy="3627598"/>
          </a:xfrm>
          <a:prstGeom prst="rect">
            <a:avLst/>
          </a:prstGeom>
        </p:spPr>
      </p:pic>
    </p:spTree>
    <p:extLst>
      <p:ext uri="{BB962C8B-B14F-4D97-AF65-F5344CB8AC3E}">
        <p14:creationId xmlns:p14="http://schemas.microsoft.com/office/powerpoint/2010/main" val="40543431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202E6-339B-F1C8-153D-18B3E22B7A5F}"/>
              </a:ext>
            </a:extLst>
          </p:cNvPr>
          <p:cNvSpPr>
            <a:spLocks noGrp="1"/>
          </p:cNvSpPr>
          <p:nvPr>
            <p:ph type="title"/>
          </p:nvPr>
        </p:nvSpPr>
        <p:spPr>
          <a:xfrm>
            <a:off x="2673877" y="251576"/>
            <a:ext cx="8911687" cy="1280890"/>
          </a:xfrm>
        </p:spPr>
        <p:txBody>
          <a:bodyPr/>
          <a:lstStyle/>
          <a:p>
            <a:pPr algn="ctr"/>
            <a:r>
              <a:rPr lang="en-US" altLang="zh-CN" dirty="0">
                <a:solidFill>
                  <a:srgbClr val="000000"/>
                </a:solidFill>
                <a:latin typeface="Times New Roman" panose="02020603050405020304"/>
                <a:ea typeface="Times New Roman" panose="02020603050405020304"/>
              </a:rPr>
              <a:t>User Manual</a:t>
            </a:r>
            <a:br>
              <a:rPr lang="en-US" altLang="zh-CN" dirty="0">
                <a:solidFill>
                  <a:srgbClr val="000000"/>
                </a:solidFill>
                <a:latin typeface="Times New Roman" panose="02020603050405020304"/>
                <a:ea typeface="Times New Roman" panose="02020603050405020304"/>
              </a:rPr>
            </a:br>
            <a:endParaRPr lang="en-US" dirty="0"/>
          </a:p>
        </p:txBody>
      </p:sp>
      <p:sp>
        <p:nvSpPr>
          <p:cNvPr id="3" name="Content Placeholder 2">
            <a:extLst>
              <a:ext uri="{FF2B5EF4-FFF2-40B4-BE49-F238E27FC236}">
                <a16:creationId xmlns:a16="http://schemas.microsoft.com/office/drawing/2014/main" id="{66D53529-3E3C-D4AA-9A9B-2B80DD8FA946}"/>
              </a:ext>
            </a:extLst>
          </p:cNvPr>
          <p:cNvSpPr>
            <a:spLocks noGrp="1"/>
          </p:cNvSpPr>
          <p:nvPr>
            <p:ph sz="half" idx="1"/>
          </p:nvPr>
        </p:nvSpPr>
        <p:spPr>
          <a:xfrm>
            <a:off x="3119959" y="970344"/>
            <a:ext cx="8301574" cy="5153180"/>
          </a:xfrm>
        </p:spPr>
        <p:txBody>
          <a:bodyPr>
            <a:noAutofit/>
          </a:bodyPr>
          <a:lstStyle/>
          <a:p>
            <a:pPr marL="0" indent="0" algn="ctr">
              <a:buNone/>
            </a:pPr>
            <a:r>
              <a:rPr lang="en-US" sz="1200" b="1" dirty="0">
                <a:latin typeface="Times New Roman" panose="02020603050405020304" pitchFamily="18" charset="0"/>
                <a:cs typeface="Times New Roman" panose="02020603050405020304" pitchFamily="18" charset="0"/>
              </a:rPr>
              <a:t>Overview</a:t>
            </a:r>
          </a:p>
          <a:p>
            <a:pPr algn="ctr"/>
            <a:r>
              <a:rPr lang="en-US" sz="1200" dirty="0">
                <a:latin typeface="Times New Roman" panose="02020603050405020304" pitchFamily="18" charset="0"/>
                <a:cs typeface="Times New Roman" panose="02020603050405020304" pitchFamily="18" charset="0"/>
              </a:rPr>
              <a:t>AI-driven app providing </a:t>
            </a:r>
            <a:r>
              <a:rPr lang="en-US" sz="1200" b="1" dirty="0">
                <a:latin typeface="Times New Roman" panose="02020603050405020304" pitchFamily="18" charset="0"/>
                <a:cs typeface="Times New Roman" panose="02020603050405020304" pitchFamily="18" charset="0"/>
              </a:rPr>
              <a:t>real-time AQI</a:t>
            </a: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72-hr forecasts</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health advisories</a:t>
            </a:r>
            <a:r>
              <a:rPr lang="en-US" sz="1200" dirty="0">
                <a:latin typeface="Times New Roman" panose="02020603050405020304" pitchFamily="18" charset="0"/>
                <a:cs typeface="Times New Roman" panose="02020603050405020304" pitchFamily="18" charset="0"/>
              </a:rPr>
              <a:t> using </a:t>
            </a:r>
            <a:r>
              <a:rPr lang="en-US" sz="1200" b="1" dirty="0">
                <a:latin typeface="Times New Roman" panose="02020603050405020304" pitchFamily="18" charset="0"/>
                <a:cs typeface="Times New Roman" panose="02020603050405020304" pitchFamily="18" charset="0"/>
              </a:rPr>
              <a:t>CPCB</a:t>
            </a: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MERRA-2</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INSAT-3DR</a:t>
            </a:r>
            <a:r>
              <a:rPr lang="en-US" sz="1200" dirty="0">
                <a:latin typeface="Times New Roman" panose="02020603050405020304" pitchFamily="18" charset="0"/>
                <a:cs typeface="Times New Roman" panose="02020603050405020304" pitchFamily="18" charset="0"/>
              </a:rPr>
              <a:t> data.</a:t>
            </a:r>
          </a:p>
          <a:p>
            <a:pPr marL="0" indent="0" algn="ctr">
              <a:buNone/>
            </a:pPr>
            <a:r>
              <a:rPr lang="en-US" sz="1200" b="1" dirty="0">
                <a:latin typeface="Times New Roman" panose="02020603050405020304" pitchFamily="18" charset="0"/>
                <a:cs typeface="Times New Roman" panose="02020603050405020304" pitchFamily="18" charset="0"/>
              </a:rPr>
              <a:t>How to Use</a:t>
            </a:r>
          </a:p>
          <a:p>
            <a:pPr algn="ctr"/>
            <a:r>
              <a:rPr lang="en-US" sz="1200" b="1" dirty="0">
                <a:latin typeface="Times New Roman" panose="02020603050405020304" pitchFamily="18" charset="0"/>
                <a:cs typeface="Times New Roman" panose="02020603050405020304" pitchFamily="18" charset="0"/>
              </a:rPr>
              <a:t>Open App → Allow Location Access</a:t>
            </a:r>
            <a:endParaRPr lang="en-US" sz="1200" dirty="0">
              <a:latin typeface="Times New Roman" panose="02020603050405020304" pitchFamily="18" charset="0"/>
              <a:cs typeface="Times New Roman" panose="02020603050405020304" pitchFamily="18" charset="0"/>
            </a:endParaRPr>
          </a:p>
          <a:p>
            <a:pPr algn="ctr"/>
            <a:r>
              <a:rPr lang="en-US" sz="1200" b="1" dirty="0">
                <a:latin typeface="Times New Roman" panose="02020603050405020304" pitchFamily="18" charset="0"/>
                <a:cs typeface="Times New Roman" panose="02020603050405020304" pitchFamily="18" charset="0"/>
              </a:rPr>
              <a:t>Select City / Pin Location</a:t>
            </a:r>
            <a:endParaRPr lang="en-US" sz="1200" dirty="0">
              <a:latin typeface="Times New Roman" panose="02020603050405020304" pitchFamily="18" charset="0"/>
              <a:cs typeface="Times New Roman" panose="02020603050405020304" pitchFamily="18" charset="0"/>
            </a:endParaRPr>
          </a:p>
          <a:p>
            <a:pPr algn="ctr"/>
            <a:r>
              <a:rPr lang="en-US" sz="1200" dirty="0">
                <a:latin typeface="Times New Roman" panose="02020603050405020304" pitchFamily="18" charset="0"/>
                <a:cs typeface="Times New Roman" panose="02020603050405020304" pitchFamily="18" charset="0"/>
              </a:rPr>
              <a:t>View </a:t>
            </a:r>
            <a:r>
              <a:rPr lang="en-US" sz="1200" b="1" dirty="0">
                <a:latin typeface="Times New Roman" panose="02020603050405020304" pitchFamily="18" charset="0"/>
                <a:cs typeface="Times New Roman" panose="02020603050405020304" pitchFamily="18" charset="0"/>
              </a:rPr>
              <a:t>Live AQI</a:t>
            </a: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Forecast Graph</a:t>
            </a: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Health Advisory</a:t>
            </a:r>
            <a:endParaRPr lang="en-US" sz="1200" dirty="0">
              <a:latin typeface="Times New Roman" panose="02020603050405020304" pitchFamily="18" charset="0"/>
              <a:cs typeface="Times New Roman" panose="02020603050405020304" pitchFamily="18" charset="0"/>
            </a:endParaRPr>
          </a:p>
          <a:p>
            <a:pPr algn="ctr"/>
            <a:r>
              <a:rPr lang="en-US" sz="1200" dirty="0">
                <a:latin typeface="Times New Roman" panose="02020603050405020304" pitchFamily="18" charset="0"/>
                <a:cs typeface="Times New Roman" panose="02020603050405020304" pitchFamily="18" charset="0"/>
              </a:rPr>
              <a:t>Enable </a:t>
            </a:r>
            <a:r>
              <a:rPr lang="en-US" sz="1200" b="1" dirty="0">
                <a:latin typeface="Times New Roman" panose="02020603050405020304" pitchFamily="18" charset="0"/>
                <a:cs typeface="Times New Roman" panose="02020603050405020304" pitchFamily="18" charset="0"/>
              </a:rPr>
              <a:t>Notifications</a:t>
            </a:r>
            <a:r>
              <a:rPr lang="en-US" sz="1200" dirty="0">
                <a:latin typeface="Times New Roman" panose="02020603050405020304" pitchFamily="18" charset="0"/>
                <a:cs typeface="Times New Roman" panose="02020603050405020304" pitchFamily="18" charset="0"/>
              </a:rPr>
              <a:t> for pollution alerts</a:t>
            </a:r>
          </a:p>
          <a:p>
            <a:pPr algn="ctr"/>
            <a:r>
              <a:rPr lang="en-US" sz="1200" dirty="0">
                <a:latin typeface="Times New Roman" panose="02020603050405020304" pitchFamily="18" charset="0"/>
                <a:cs typeface="Times New Roman" panose="02020603050405020304" pitchFamily="18" charset="0"/>
              </a:rPr>
              <a:t>Check </a:t>
            </a:r>
            <a:r>
              <a:rPr lang="en-US" sz="1200" b="1" dirty="0">
                <a:latin typeface="Times New Roman" panose="02020603050405020304" pitchFamily="18" charset="0"/>
                <a:cs typeface="Times New Roman" panose="02020603050405020304" pitchFamily="18" charset="0"/>
              </a:rPr>
              <a:t>Trends &amp; Maps</a:t>
            </a:r>
            <a:r>
              <a:rPr lang="en-US" sz="1200" dirty="0">
                <a:latin typeface="Times New Roman" panose="02020603050405020304" pitchFamily="18" charset="0"/>
                <a:cs typeface="Times New Roman" panose="02020603050405020304" pitchFamily="18" charset="0"/>
              </a:rPr>
              <a:t> for analysis</a:t>
            </a:r>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a:p>
            <a:pPr marL="0" indent="0" algn="ctr">
              <a:buNone/>
            </a:pPr>
            <a:r>
              <a:rPr lang="en-US" sz="1200" b="1" dirty="0">
                <a:latin typeface="Times New Roman" panose="02020603050405020304" pitchFamily="18" charset="0"/>
                <a:cs typeface="Times New Roman" panose="02020603050405020304" pitchFamily="18" charset="0"/>
              </a:rPr>
              <a:t> Key Features</a:t>
            </a:r>
          </a:p>
          <a:p>
            <a:pPr algn="ctr"/>
            <a:r>
              <a:rPr lang="en-US" sz="1200" dirty="0">
                <a:latin typeface="Times New Roman" panose="02020603050405020304" pitchFamily="18" charset="0"/>
                <a:cs typeface="Times New Roman" panose="02020603050405020304" pitchFamily="18" charset="0"/>
              </a:rPr>
              <a:t>🌍 Real-time AQI map (color-coded)</a:t>
            </a:r>
          </a:p>
          <a:p>
            <a:pPr algn="ctr"/>
            <a:r>
              <a:rPr lang="en-US" sz="1200" dirty="0">
                <a:latin typeface="Times New Roman" panose="02020603050405020304" pitchFamily="18" charset="0"/>
                <a:cs typeface="Times New Roman" panose="02020603050405020304" pitchFamily="18" charset="0"/>
              </a:rPr>
              <a:t>⏱ 1–72 </a:t>
            </a:r>
            <a:r>
              <a:rPr lang="en-US" sz="1200" dirty="0" err="1">
                <a:latin typeface="Times New Roman" panose="02020603050405020304" pitchFamily="18" charset="0"/>
                <a:cs typeface="Times New Roman" panose="02020603050405020304" pitchFamily="18" charset="0"/>
              </a:rPr>
              <a:t>hr</a:t>
            </a:r>
            <a:r>
              <a:rPr lang="en-US" sz="1200" dirty="0">
                <a:latin typeface="Times New Roman" panose="02020603050405020304" pitchFamily="18" charset="0"/>
                <a:cs typeface="Times New Roman" panose="02020603050405020304" pitchFamily="18" charset="0"/>
              </a:rPr>
              <a:t> forecast (R² = 0.9994)</a:t>
            </a:r>
          </a:p>
          <a:p>
            <a:pPr algn="ctr"/>
            <a:r>
              <a:rPr lang="en-US" sz="1200" dirty="0">
                <a:latin typeface="Times New Roman" panose="02020603050405020304" pitchFamily="18" charset="0"/>
                <a:cs typeface="Times New Roman" panose="02020603050405020304" pitchFamily="18" charset="0"/>
              </a:rPr>
              <a:t>📈 Historical trends &amp; analytics</a:t>
            </a:r>
          </a:p>
          <a:p>
            <a:pPr algn="ctr"/>
            <a:r>
              <a:rPr lang="en-US" sz="1200" dirty="0">
                <a:latin typeface="Times New Roman" panose="02020603050405020304" pitchFamily="18" charset="0"/>
                <a:cs typeface="Times New Roman" panose="02020603050405020304" pitchFamily="18" charset="0"/>
              </a:rPr>
              <a:t>🧠 Personalized health alerts</a:t>
            </a:r>
          </a:p>
          <a:p>
            <a:pPr algn="ctr"/>
            <a:r>
              <a:rPr lang="en-US" sz="1200" dirty="0">
                <a:latin typeface="Times New Roman" panose="02020603050405020304" pitchFamily="18" charset="0"/>
                <a:cs typeface="Times New Roman" panose="02020603050405020304" pitchFamily="18" charset="0"/>
              </a:rPr>
              <a:t>🔔 Threshold-based push notifications</a:t>
            </a:r>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a:p>
            <a:pPr marL="0" indent="0" algn="ctr">
              <a:buNone/>
            </a:pPr>
            <a:r>
              <a:rPr lang="en-US" sz="1200" b="1" dirty="0">
                <a:latin typeface="Times New Roman" panose="02020603050405020304" pitchFamily="18" charset="0"/>
                <a:cs typeface="Times New Roman" panose="02020603050405020304" pitchFamily="18" charset="0"/>
              </a:rPr>
              <a:t>Tech Stack</a:t>
            </a:r>
          </a:p>
          <a:p>
            <a:pPr algn="ctr"/>
            <a:r>
              <a:rPr lang="en-US" sz="1200" dirty="0">
                <a:latin typeface="Times New Roman" panose="02020603050405020304" pitchFamily="18" charset="0"/>
                <a:cs typeface="Times New Roman" panose="02020603050405020304" pitchFamily="18" charset="0"/>
              </a:rPr>
              <a:t>Python | Random Forest| </a:t>
            </a:r>
            <a:r>
              <a:rPr lang="en-US" sz="1200" dirty="0" err="1">
                <a:latin typeface="Times New Roman" panose="02020603050405020304" pitchFamily="18" charset="0"/>
                <a:cs typeface="Times New Roman" panose="02020603050405020304" pitchFamily="18" charset="0"/>
              </a:rPr>
              <a:t>Streamlit</a:t>
            </a:r>
            <a:r>
              <a:rPr lang="en-US" sz="1200" dirty="0">
                <a:latin typeface="Times New Roman" panose="02020603050405020304" pitchFamily="18" charset="0"/>
                <a:cs typeface="Times New Roman" panose="02020603050405020304" pitchFamily="18" charset="0"/>
              </a:rPr>
              <a:t> | Folium Maps</a:t>
            </a:r>
          </a:p>
          <a:p>
            <a:pPr algn="ctr"/>
            <a:endParaRPr lang="en-US" sz="12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07E83B3C-2DA8-B695-53FB-F4FFFB44F01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Tree>
    <p:extLst>
      <p:ext uri="{BB962C8B-B14F-4D97-AF65-F5344CB8AC3E}">
        <p14:creationId xmlns:p14="http://schemas.microsoft.com/office/powerpoint/2010/main" val="21471916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CFD6E-3E46-FD5A-E527-3C99005C9A76}"/>
              </a:ext>
            </a:extLst>
          </p:cNvPr>
          <p:cNvSpPr>
            <a:spLocks noGrp="1"/>
          </p:cNvSpPr>
          <p:nvPr>
            <p:ph type="title"/>
          </p:nvPr>
        </p:nvSpPr>
        <p:spPr>
          <a:xfrm>
            <a:off x="2550591" y="226176"/>
            <a:ext cx="8911687" cy="1280890"/>
          </a:xfrm>
        </p:spPr>
        <p:txBody>
          <a:bodyPr/>
          <a:lstStyle/>
          <a:p>
            <a:pPr algn="ctr"/>
            <a:r>
              <a:rPr lang="en-US" altLang="zh-CN" dirty="0">
                <a:solidFill>
                  <a:srgbClr val="000000"/>
                </a:solidFill>
                <a:latin typeface="Times New Roman" panose="02020603050405020304"/>
                <a:ea typeface="Times New Roman" panose="02020603050405020304"/>
              </a:rPr>
              <a:t>Bibliography, References</a:t>
            </a:r>
            <a:br>
              <a:rPr lang="en-US" altLang="zh-CN" dirty="0">
                <a:solidFill>
                  <a:srgbClr val="000000"/>
                </a:solidFill>
                <a:latin typeface="Times New Roman" panose="02020603050405020304"/>
                <a:ea typeface="Times New Roman" panose="02020603050405020304"/>
              </a:rPr>
            </a:br>
            <a:endParaRPr lang="en-US" dirty="0"/>
          </a:p>
        </p:txBody>
      </p:sp>
      <p:graphicFrame>
        <p:nvGraphicFramePr>
          <p:cNvPr id="6" name="Content Placeholder 5">
            <a:extLst>
              <a:ext uri="{FF2B5EF4-FFF2-40B4-BE49-F238E27FC236}">
                <a16:creationId xmlns:a16="http://schemas.microsoft.com/office/drawing/2014/main" id="{6C3B4501-0123-9C2F-1D0A-D76E683BBB51}"/>
              </a:ext>
            </a:extLst>
          </p:cNvPr>
          <p:cNvGraphicFramePr>
            <a:graphicFrameLocks noGrp="1"/>
          </p:cNvGraphicFramePr>
          <p:nvPr>
            <p:ph sz="half" idx="1"/>
            <p:extLst>
              <p:ext uri="{D42A27DB-BD31-4B8C-83A1-F6EECF244321}">
                <p14:modId xmlns:p14="http://schemas.microsoft.com/office/powerpoint/2010/main" val="3954283753"/>
              </p:ext>
            </p:extLst>
          </p:nvPr>
        </p:nvGraphicFramePr>
        <p:xfrm>
          <a:off x="2844669" y="1219200"/>
          <a:ext cx="8911686" cy="4624024"/>
        </p:xfrm>
        <a:graphic>
          <a:graphicData uri="http://schemas.openxmlformats.org/drawingml/2006/table">
            <a:tbl>
              <a:tblPr>
                <a:tableStyleId>{616DA210-FB5B-4158-B5E0-FEB733F419BA}</a:tableStyleId>
              </a:tblPr>
              <a:tblGrid>
                <a:gridCol w="2970562">
                  <a:extLst>
                    <a:ext uri="{9D8B030D-6E8A-4147-A177-3AD203B41FA5}">
                      <a16:colId xmlns:a16="http://schemas.microsoft.com/office/drawing/2014/main" val="4154481500"/>
                    </a:ext>
                  </a:extLst>
                </a:gridCol>
                <a:gridCol w="2970562">
                  <a:extLst>
                    <a:ext uri="{9D8B030D-6E8A-4147-A177-3AD203B41FA5}">
                      <a16:colId xmlns:a16="http://schemas.microsoft.com/office/drawing/2014/main" val="1724545065"/>
                    </a:ext>
                  </a:extLst>
                </a:gridCol>
                <a:gridCol w="2970562">
                  <a:extLst>
                    <a:ext uri="{9D8B030D-6E8A-4147-A177-3AD203B41FA5}">
                      <a16:colId xmlns:a16="http://schemas.microsoft.com/office/drawing/2014/main" val="1550643534"/>
                    </a:ext>
                  </a:extLst>
                </a:gridCol>
              </a:tblGrid>
              <a:tr h="202523">
                <a:tc>
                  <a:txBody>
                    <a:bodyPr/>
                    <a:lstStyle/>
                    <a:p>
                      <a:pPr>
                        <a:buNone/>
                      </a:pPr>
                      <a:r>
                        <a:rPr lang="en-US" sz="1200" b="1">
                          <a:solidFill>
                            <a:srgbClr val="0070C0"/>
                          </a:solidFill>
                          <a:latin typeface="Times New Roman" panose="02020603050405020304" pitchFamily="18" charset="0"/>
                          <a:cs typeface="Times New Roman" panose="02020603050405020304" pitchFamily="18" charset="0"/>
                        </a:rPr>
                        <a:t>Category</a:t>
                      </a:r>
                    </a:p>
                  </a:txBody>
                  <a:tcPr marL="37782" marR="37782" marT="18891" marB="18891" anchor="ctr"/>
                </a:tc>
                <a:tc>
                  <a:txBody>
                    <a:bodyPr/>
                    <a:lstStyle/>
                    <a:p>
                      <a:pPr>
                        <a:buNone/>
                      </a:pPr>
                      <a:r>
                        <a:rPr lang="en-US" sz="1200" b="1">
                          <a:solidFill>
                            <a:srgbClr val="0070C0"/>
                          </a:solidFill>
                          <a:latin typeface="Times New Roman" panose="02020603050405020304" pitchFamily="18" charset="0"/>
                          <a:cs typeface="Times New Roman" panose="02020603050405020304" pitchFamily="18" charset="0"/>
                        </a:rPr>
                        <a:t>Source / Paper / Dataset</a:t>
                      </a:r>
                    </a:p>
                  </a:txBody>
                  <a:tcPr marL="37782" marR="37782" marT="18891" marB="18891" anchor="ctr"/>
                </a:tc>
                <a:tc>
                  <a:txBody>
                    <a:bodyPr/>
                    <a:lstStyle/>
                    <a:p>
                      <a:pPr>
                        <a:buNone/>
                      </a:pPr>
                      <a:r>
                        <a:rPr lang="en-US" sz="1200" b="1" dirty="0">
                          <a:solidFill>
                            <a:srgbClr val="0070C0"/>
                          </a:solidFill>
                          <a:latin typeface="Times New Roman" panose="02020603050405020304" pitchFamily="18" charset="0"/>
                          <a:cs typeface="Times New Roman" panose="02020603050405020304" pitchFamily="18" charset="0"/>
                        </a:rPr>
                        <a:t>Reference Link</a:t>
                      </a:r>
                    </a:p>
                  </a:txBody>
                  <a:tcPr marL="37782" marR="37782" marT="18891" marB="18891" anchor="ctr"/>
                </a:tc>
                <a:extLst>
                  <a:ext uri="{0D108BD9-81ED-4DB2-BD59-A6C34878D82A}">
                    <a16:rowId xmlns:a16="http://schemas.microsoft.com/office/drawing/2014/main" val="2218181275"/>
                  </a:ext>
                </a:extLst>
              </a:tr>
              <a:tr h="658198">
                <a:tc>
                  <a:txBody>
                    <a:bodyPr/>
                    <a:lstStyle/>
                    <a:p>
                      <a:pPr>
                        <a:buNone/>
                      </a:pPr>
                      <a:r>
                        <a:rPr lang="en-US" sz="1200">
                          <a:latin typeface="Times New Roman" panose="02020603050405020304" pitchFamily="18" charset="0"/>
                          <a:cs typeface="Times New Roman" panose="02020603050405020304" pitchFamily="18" charset="0"/>
                        </a:rPr>
                        <a:t>🌍 </a:t>
                      </a:r>
                      <a:r>
                        <a:rPr lang="en-US" sz="1200" b="1">
                          <a:latin typeface="Times New Roman" panose="02020603050405020304" pitchFamily="18" charset="0"/>
                          <a:cs typeface="Times New Roman" panose="02020603050405020304" pitchFamily="18" charset="0"/>
                        </a:rPr>
                        <a:t>Ground Data (CPCB)</a:t>
                      </a:r>
                      <a:endParaRPr lang="en-US" sz="1200">
                        <a:latin typeface="Times New Roman" panose="02020603050405020304" pitchFamily="18" charset="0"/>
                        <a:cs typeface="Times New Roman" panose="02020603050405020304" pitchFamily="18" charset="0"/>
                      </a:endParaRPr>
                    </a:p>
                  </a:txBody>
                  <a:tcPr marL="37782" marR="37782" marT="18891" marB="18891" anchor="ctr"/>
                </a:tc>
                <a:tc>
                  <a:txBody>
                    <a:bodyPr/>
                    <a:lstStyle/>
                    <a:p>
                      <a:pPr>
                        <a:buNone/>
                      </a:pPr>
                      <a:r>
                        <a:rPr lang="en-US" sz="1200">
                          <a:latin typeface="Times New Roman" panose="02020603050405020304" pitchFamily="18" charset="0"/>
                          <a:cs typeface="Times New Roman" panose="02020603050405020304" pitchFamily="18" charset="0"/>
                        </a:rPr>
                        <a:t>Central Pollution Control Board – National Air Quality Monitoring Program</a:t>
                      </a:r>
                    </a:p>
                  </a:txBody>
                  <a:tcPr marL="37782" marR="37782" marT="18891" marB="18891" anchor="ctr"/>
                </a:tc>
                <a:tc>
                  <a:txBody>
                    <a:bodyPr/>
                    <a:lstStyle/>
                    <a:p>
                      <a:pPr>
                        <a:buNone/>
                      </a:pPr>
                      <a:r>
                        <a:rPr lang="en-US" sz="1200" b="1" dirty="0">
                          <a:solidFill>
                            <a:srgbClr val="FF000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https://cpcb.nic.in/</a:t>
                      </a:r>
                      <a:endParaRPr lang="en-US" sz="1200" b="1" dirty="0">
                        <a:solidFill>
                          <a:srgbClr val="FF0000"/>
                        </a:solidFill>
                        <a:latin typeface="Times New Roman" panose="02020603050405020304" pitchFamily="18" charset="0"/>
                        <a:cs typeface="Times New Roman" panose="02020603050405020304" pitchFamily="18" charset="0"/>
                      </a:endParaRPr>
                    </a:p>
                  </a:txBody>
                  <a:tcPr marL="37782" marR="37782" marT="18891" marB="18891" anchor="ctr"/>
                </a:tc>
                <a:extLst>
                  <a:ext uri="{0D108BD9-81ED-4DB2-BD59-A6C34878D82A}">
                    <a16:rowId xmlns:a16="http://schemas.microsoft.com/office/drawing/2014/main" val="3888668681"/>
                  </a:ext>
                </a:extLst>
              </a:tr>
              <a:tr h="506307">
                <a:tc>
                  <a:txBody>
                    <a:bodyPr/>
                    <a:lstStyle/>
                    <a:p>
                      <a:pPr>
                        <a:buNone/>
                      </a:pP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Meteorological Data (MERRA-2)</a:t>
                      </a:r>
                      <a:endParaRPr lang="en-US" sz="1200" dirty="0">
                        <a:latin typeface="Times New Roman" panose="02020603050405020304" pitchFamily="18" charset="0"/>
                        <a:cs typeface="Times New Roman" panose="02020603050405020304" pitchFamily="18" charset="0"/>
                      </a:endParaRPr>
                    </a:p>
                  </a:txBody>
                  <a:tcPr marL="37782" marR="37782" marT="18891" marB="18891" anchor="ctr"/>
                </a:tc>
                <a:tc>
                  <a:txBody>
                    <a:bodyPr/>
                    <a:lstStyle/>
                    <a:p>
                      <a:pPr>
                        <a:buNone/>
                      </a:pPr>
                      <a:r>
                        <a:rPr lang="en-US" sz="1200">
                          <a:latin typeface="Times New Roman" panose="02020603050405020304" pitchFamily="18" charset="0"/>
                          <a:cs typeface="Times New Roman" panose="02020603050405020304" pitchFamily="18" charset="0"/>
                        </a:rPr>
                        <a:t>NASA Global Modeling and Assimilation Office – MERRA-2 Dataset</a:t>
                      </a:r>
                    </a:p>
                  </a:txBody>
                  <a:tcPr marL="37782" marR="37782" marT="18891" marB="18891" anchor="ctr"/>
                </a:tc>
                <a:tc>
                  <a:txBody>
                    <a:bodyPr/>
                    <a:lstStyle/>
                    <a:p>
                      <a:pPr>
                        <a:buNone/>
                      </a:pPr>
                      <a:r>
                        <a:rPr lang="en-US" sz="1200" b="1" dirty="0">
                          <a:solidFill>
                            <a:srgbClr val="FF000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https://disc.gsfc.nasa.gov/datasets/M2T1NXAER_5.12.4</a:t>
                      </a:r>
                      <a:endParaRPr lang="en-US" sz="1200" b="1" dirty="0">
                        <a:solidFill>
                          <a:srgbClr val="FF0000"/>
                        </a:solidFill>
                        <a:latin typeface="Times New Roman" panose="02020603050405020304" pitchFamily="18" charset="0"/>
                        <a:cs typeface="Times New Roman" panose="02020603050405020304" pitchFamily="18" charset="0"/>
                      </a:endParaRPr>
                    </a:p>
                  </a:txBody>
                  <a:tcPr marL="37782" marR="37782" marT="18891" marB="18891" anchor="ctr"/>
                </a:tc>
                <a:extLst>
                  <a:ext uri="{0D108BD9-81ED-4DB2-BD59-A6C34878D82A}">
                    <a16:rowId xmlns:a16="http://schemas.microsoft.com/office/drawing/2014/main" val="2728490566"/>
                  </a:ext>
                </a:extLst>
              </a:tr>
              <a:tr h="658198">
                <a:tc>
                  <a:txBody>
                    <a:bodyPr/>
                    <a:lstStyle/>
                    <a:p>
                      <a:pPr>
                        <a:buNone/>
                      </a:pP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Satellite Data (INSAT-3DR)</a:t>
                      </a:r>
                      <a:endParaRPr lang="en-US" sz="1200" dirty="0">
                        <a:latin typeface="Times New Roman" panose="02020603050405020304" pitchFamily="18" charset="0"/>
                        <a:cs typeface="Times New Roman" panose="02020603050405020304" pitchFamily="18" charset="0"/>
                      </a:endParaRPr>
                    </a:p>
                  </a:txBody>
                  <a:tcPr marL="37782" marR="37782" marT="18891" marB="18891" anchor="ctr"/>
                </a:tc>
                <a:tc>
                  <a:txBody>
                    <a:bodyPr/>
                    <a:lstStyle/>
                    <a:p>
                      <a:pPr>
                        <a:buNone/>
                      </a:pPr>
                      <a:r>
                        <a:rPr lang="it-IT" sz="1200" dirty="0">
                          <a:latin typeface="Times New Roman" panose="02020603050405020304" pitchFamily="18" charset="0"/>
                          <a:cs typeface="Times New Roman" panose="02020603050405020304" pitchFamily="18" charset="0"/>
                        </a:rPr>
                        <a:t>ISRO Meteorological &amp; Oceanographic Satellite Data Archive Centre (MOSDAC)</a:t>
                      </a:r>
                    </a:p>
                  </a:txBody>
                  <a:tcPr marL="37782" marR="37782" marT="18891" marB="18891" anchor="ctr"/>
                </a:tc>
                <a:tc>
                  <a:txBody>
                    <a:bodyPr/>
                    <a:lstStyle/>
                    <a:p>
                      <a:pPr>
                        <a:buNone/>
                      </a:pPr>
                      <a:r>
                        <a:rPr lang="en-US" sz="1200" b="1">
                          <a:solidFill>
                            <a:srgbClr val="FF0000"/>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https://mosdac.gov.in/</a:t>
                      </a:r>
                      <a:endParaRPr lang="en-US" sz="1200" b="1">
                        <a:solidFill>
                          <a:srgbClr val="FF0000"/>
                        </a:solidFill>
                        <a:latin typeface="Times New Roman" panose="02020603050405020304" pitchFamily="18" charset="0"/>
                        <a:cs typeface="Times New Roman" panose="02020603050405020304" pitchFamily="18" charset="0"/>
                      </a:endParaRPr>
                    </a:p>
                  </a:txBody>
                  <a:tcPr marL="37782" marR="37782" marT="18891" marB="18891" anchor="ctr"/>
                </a:tc>
                <a:extLst>
                  <a:ext uri="{0D108BD9-81ED-4DB2-BD59-A6C34878D82A}">
                    <a16:rowId xmlns:a16="http://schemas.microsoft.com/office/drawing/2014/main" val="3489331064"/>
                  </a:ext>
                </a:extLst>
              </a:tr>
              <a:tr h="658198">
                <a:tc>
                  <a:txBody>
                    <a:bodyPr/>
                    <a:lstStyle/>
                    <a:p>
                      <a:pPr>
                        <a:buNone/>
                      </a:pPr>
                      <a:r>
                        <a:rPr lang="en-US" sz="1200" dirty="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Machine Learning Models</a:t>
                      </a:r>
                      <a:endParaRPr lang="en-US" sz="1200" dirty="0">
                        <a:latin typeface="Times New Roman" panose="02020603050405020304" pitchFamily="18" charset="0"/>
                        <a:cs typeface="Times New Roman" panose="02020603050405020304" pitchFamily="18" charset="0"/>
                      </a:endParaRPr>
                    </a:p>
                  </a:txBody>
                  <a:tcPr marL="37782" marR="37782" marT="18891" marB="18891" anchor="ctr"/>
                </a:tc>
                <a:tc>
                  <a:txBody>
                    <a:bodyPr/>
                    <a:lstStyle/>
                    <a:p>
                      <a:pPr>
                        <a:buNone/>
                      </a:pPr>
                      <a:r>
                        <a:rPr lang="en-US" sz="1200" dirty="0">
                          <a:latin typeface="Times New Roman" panose="02020603050405020304" pitchFamily="18" charset="0"/>
                          <a:cs typeface="Times New Roman" panose="02020603050405020304" pitchFamily="18" charset="0"/>
                        </a:rPr>
                        <a:t>Random Forests (</a:t>
                      </a:r>
                      <a:r>
                        <a:rPr lang="en-US" sz="1200" dirty="0" err="1">
                          <a:latin typeface="Times New Roman" panose="02020603050405020304" pitchFamily="18" charset="0"/>
                          <a:cs typeface="Times New Roman" panose="02020603050405020304" pitchFamily="18" charset="0"/>
                        </a:rPr>
                        <a:t>Breiman</a:t>
                      </a:r>
                      <a:r>
                        <a:rPr lang="en-US" sz="1200" dirty="0">
                          <a:latin typeface="Times New Roman" panose="02020603050405020304" pitchFamily="18" charset="0"/>
                          <a:cs typeface="Times New Roman" panose="02020603050405020304" pitchFamily="18" charset="0"/>
                        </a:rPr>
                        <a:t>, 2001) — Ensemble Learning Framework</a:t>
                      </a:r>
                    </a:p>
                  </a:txBody>
                  <a:tcPr marL="37782" marR="37782" marT="18891" marB="18891" anchor="ctr"/>
                </a:tc>
                <a:tc>
                  <a:txBody>
                    <a:bodyPr/>
                    <a:lstStyle/>
                    <a:p>
                      <a:pPr>
                        <a:buNone/>
                      </a:pPr>
                      <a:r>
                        <a:rPr lang="en-US" sz="1200" b="1" dirty="0">
                          <a:solidFill>
                            <a:srgbClr val="FF0000"/>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https://doi.org/10.1023/A:1010933404324</a:t>
                      </a:r>
                      <a:endParaRPr lang="en-US" sz="1200" b="1" dirty="0">
                        <a:solidFill>
                          <a:srgbClr val="FF0000"/>
                        </a:solidFill>
                        <a:latin typeface="Times New Roman" panose="02020603050405020304" pitchFamily="18" charset="0"/>
                        <a:cs typeface="Times New Roman" panose="02020603050405020304" pitchFamily="18" charset="0"/>
                      </a:endParaRPr>
                    </a:p>
                  </a:txBody>
                  <a:tcPr marL="37782" marR="37782" marT="18891" marB="18891" anchor="ctr"/>
                </a:tc>
                <a:extLst>
                  <a:ext uri="{0D108BD9-81ED-4DB2-BD59-A6C34878D82A}">
                    <a16:rowId xmlns:a16="http://schemas.microsoft.com/office/drawing/2014/main" val="2644842755"/>
                  </a:ext>
                </a:extLst>
              </a:tr>
              <a:tr h="506307">
                <a:tc>
                  <a:txBody>
                    <a:bodyPr/>
                    <a:lstStyle/>
                    <a:p>
                      <a:pPr>
                        <a:buNone/>
                      </a:pPr>
                      <a:r>
                        <a:rPr lang="en-US" sz="1200">
                          <a:latin typeface="Times New Roman" panose="02020603050405020304" pitchFamily="18" charset="0"/>
                          <a:cs typeface="Times New Roman" panose="02020603050405020304" pitchFamily="18" charset="0"/>
                        </a:rPr>
                        <a:t>📈 </a:t>
                      </a:r>
                      <a:r>
                        <a:rPr lang="en-US" sz="1200" b="1">
                          <a:latin typeface="Times New Roman" panose="02020603050405020304" pitchFamily="18" charset="0"/>
                          <a:cs typeface="Times New Roman" panose="02020603050405020304" pitchFamily="18" charset="0"/>
                        </a:rPr>
                        <a:t>AQI Standards</a:t>
                      </a:r>
                      <a:endParaRPr lang="en-US" sz="1200">
                        <a:latin typeface="Times New Roman" panose="02020603050405020304" pitchFamily="18" charset="0"/>
                        <a:cs typeface="Times New Roman" panose="02020603050405020304" pitchFamily="18" charset="0"/>
                      </a:endParaRPr>
                    </a:p>
                  </a:txBody>
                  <a:tcPr marL="37782" marR="37782" marT="18891" marB="18891" anchor="ctr"/>
                </a:tc>
                <a:tc>
                  <a:txBody>
                    <a:bodyPr/>
                    <a:lstStyle/>
                    <a:p>
                      <a:pPr>
                        <a:buNone/>
                      </a:pPr>
                      <a:r>
                        <a:rPr lang="en-US" sz="1200" dirty="0">
                          <a:latin typeface="Times New Roman" panose="02020603050405020304" pitchFamily="18" charset="0"/>
                          <a:cs typeface="Times New Roman" panose="02020603050405020304" pitchFamily="18" charset="0"/>
                        </a:rPr>
                        <a:t>CPCB – National Air Quality Index Methodology</a:t>
                      </a:r>
                    </a:p>
                  </a:txBody>
                  <a:tcPr marL="37782" marR="37782" marT="18891" marB="18891" anchor="ctr"/>
                </a:tc>
                <a:tc>
                  <a:txBody>
                    <a:bodyPr/>
                    <a:lstStyle/>
                    <a:p>
                      <a:pPr>
                        <a:buNone/>
                      </a:pPr>
                      <a:r>
                        <a:rPr lang="en-US" sz="1200" b="1">
                          <a:solidFill>
                            <a:srgbClr val="FF0000"/>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https://app.cpcbccr.com/AQI_India/</a:t>
                      </a:r>
                      <a:endParaRPr lang="en-US" sz="1200" b="1">
                        <a:solidFill>
                          <a:srgbClr val="FF0000"/>
                        </a:solidFill>
                        <a:latin typeface="Times New Roman" panose="02020603050405020304" pitchFamily="18" charset="0"/>
                        <a:cs typeface="Times New Roman" panose="02020603050405020304" pitchFamily="18" charset="0"/>
                      </a:endParaRPr>
                    </a:p>
                  </a:txBody>
                  <a:tcPr marL="37782" marR="37782" marT="18891" marB="18891" anchor="ctr"/>
                </a:tc>
                <a:extLst>
                  <a:ext uri="{0D108BD9-81ED-4DB2-BD59-A6C34878D82A}">
                    <a16:rowId xmlns:a16="http://schemas.microsoft.com/office/drawing/2014/main" val="2589450495"/>
                  </a:ext>
                </a:extLst>
              </a:tr>
              <a:tr h="658198">
                <a:tc>
                  <a:txBody>
                    <a:bodyPr/>
                    <a:lstStyle/>
                    <a:p>
                      <a:pPr>
                        <a:buNone/>
                      </a:pPr>
                      <a:r>
                        <a:rPr lang="en-US" sz="1200">
                          <a:latin typeface="Times New Roman" panose="02020603050405020304" pitchFamily="18" charset="0"/>
                          <a:cs typeface="Times New Roman" panose="02020603050405020304" pitchFamily="18" charset="0"/>
                        </a:rPr>
                        <a:t>🧠 </a:t>
                      </a:r>
                      <a:r>
                        <a:rPr lang="en-US" sz="1200" b="1">
                          <a:latin typeface="Times New Roman" panose="02020603050405020304" pitchFamily="18" charset="0"/>
                          <a:cs typeface="Times New Roman" panose="02020603050405020304" pitchFamily="18" charset="0"/>
                        </a:rPr>
                        <a:t>Predictive Modeling Reference</a:t>
                      </a:r>
                      <a:endParaRPr lang="en-US" sz="1200">
                        <a:latin typeface="Times New Roman" panose="02020603050405020304" pitchFamily="18" charset="0"/>
                        <a:cs typeface="Times New Roman" panose="02020603050405020304" pitchFamily="18" charset="0"/>
                      </a:endParaRPr>
                    </a:p>
                  </a:txBody>
                  <a:tcPr marL="37782" marR="37782" marT="18891" marB="18891" anchor="ctr"/>
                </a:tc>
                <a:tc>
                  <a:txBody>
                    <a:bodyPr/>
                    <a:lstStyle/>
                    <a:p>
                      <a:pPr>
                        <a:buNone/>
                      </a:pPr>
                      <a:r>
                        <a:rPr lang="en-US" sz="1200">
                          <a:latin typeface="Times New Roman" panose="02020603050405020304" pitchFamily="18" charset="0"/>
                          <a:cs typeface="Times New Roman" panose="02020603050405020304" pitchFamily="18" charset="0"/>
                        </a:rPr>
                        <a:t>“Air Pollution Forecasting using LSTM and XGBoost Models” – ScienceDirect (2023)</a:t>
                      </a:r>
                    </a:p>
                  </a:txBody>
                  <a:tcPr marL="37782" marR="37782" marT="18891" marB="18891" anchor="ctr"/>
                </a:tc>
                <a:tc>
                  <a:txBody>
                    <a:bodyPr/>
                    <a:lstStyle/>
                    <a:p>
                      <a:pPr>
                        <a:buNone/>
                      </a:pPr>
                      <a:r>
                        <a:rPr lang="en-US" sz="1200" b="1">
                          <a:solidFill>
                            <a:srgbClr val="FF0000"/>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https://doi.org/10.1016/j.envsoft.2023.105652</a:t>
                      </a:r>
                      <a:endParaRPr lang="en-US" sz="1200" b="1">
                        <a:solidFill>
                          <a:srgbClr val="FF0000"/>
                        </a:solidFill>
                        <a:latin typeface="Times New Roman" panose="02020603050405020304" pitchFamily="18" charset="0"/>
                        <a:cs typeface="Times New Roman" panose="02020603050405020304" pitchFamily="18" charset="0"/>
                      </a:endParaRPr>
                    </a:p>
                  </a:txBody>
                  <a:tcPr marL="37782" marR="37782" marT="18891" marB="18891" anchor="ctr"/>
                </a:tc>
                <a:extLst>
                  <a:ext uri="{0D108BD9-81ED-4DB2-BD59-A6C34878D82A}">
                    <a16:rowId xmlns:a16="http://schemas.microsoft.com/office/drawing/2014/main" val="3979668188"/>
                  </a:ext>
                </a:extLst>
              </a:tr>
              <a:tr h="354414">
                <a:tc>
                  <a:txBody>
                    <a:bodyPr/>
                    <a:lstStyle/>
                    <a:p>
                      <a:pPr>
                        <a:buNone/>
                      </a:pPr>
                      <a:r>
                        <a:rPr lang="en-US" sz="1200">
                          <a:latin typeface="Times New Roman" panose="02020603050405020304" pitchFamily="18" charset="0"/>
                          <a:cs typeface="Times New Roman" panose="02020603050405020304" pitchFamily="18" charset="0"/>
                        </a:rPr>
                        <a:t>📊 </a:t>
                      </a:r>
                      <a:r>
                        <a:rPr lang="en-US" sz="1200" b="1">
                          <a:latin typeface="Times New Roman" panose="02020603050405020304" pitchFamily="18" charset="0"/>
                          <a:cs typeface="Times New Roman" panose="02020603050405020304" pitchFamily="18" charset="0"/>
                        </a:rPr>
                        <a:t>Visualization Framework</a:t>
                      </a:r>
                      <a:endParaRPr lang="en-US" sz="1200">
                        <a:latin typeface="Times New Roman" panose="02020603050405020304" pitchFamily="18" charset="0"/>
                        <a:cs typeface="Times New Roman" panose="02020603050405020304" pitchFamily="18" charset="0"/>
                      </a:endParaRPr>
                    </a:p>
                  </a:txBody>
                  <a:tcPr marL="37782" marR="37782" marT="18891" marB="18891" anchor="ctr"/>
                </a:tc>
                <a:tc>
                  <a:txBody>
                    <a:bodyPr/>
                    <a:lstStyle/>
                    <a:p>
                      <a:pPr>
                        <a:buNone/>
                      </a:pPr>
                      <a:r>
                        <a:rPr lang="en-US" sz="1200">
                          <a:latin typeface="Times New Roman" panose="02020603050405020304" pitchFamily="18" charset="0"/>
                          <a:cs typeface="Times New Roman" panose="02020603050405020304" pitchFamily="18" charset="0"/>
                        </a:rPr>
                        <a:t>Streamlit Documentation – Interactive Data Apps</a:t>
                      </a:r>
                    </a:p>
                  </a:txBody>
                  <a:tcPr marL="37782" marR="37782" marT="18891" marB="18891" anchor="ctr"/>
                </a:tc>
                <a:tc>
                  <a:txBody>
                    <a:bodyPr/>
                    <a:lstStyle/>
                    <a:p>
                      <a:pPr>
                        <a:buNone/>
                      </a:pPr>
                      <a:r>
                        <a:rPr lang="en-US" sz="1200" b="1">
                          <a:solidFill>
                            <a:srgbClr val="FF0000"/>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https://docs.streamlit.io/</a:t>
                      </a:r>
                      <a:endParaRPr lang="en-US" sz="1200" b="1">
                        <a:solidFill>
                          <a:srgbClr val="FF0000"/>
                        </a:solidFill>
                        <a:latin typeface="Times New Roman" panose="02020603050405020304" pitchFamily="18" charset="0"/>
                        <a:cs typeface="Times New Roman" panose="02020603050405020304" pitchFamily="18" charset="0"/>
                      </a:endParaRPr>
                    </a:p>
                  </a:txBody>
                  <a:tcPr marL="37782" marR="37782" marT="18891" marB="18891" anchor="ctr"/>
                </a:tc>
                <a:extLst>
                  <a:ext uri="{0D108BD9-81ED-4DB2-BD59-A6C34878D82A}">
                    <a16:rowId xmlns:a16="http://schemas.microsoft.com/office/drawing/2014/main" val="2622001416"/>
                  </a:ext>
                </a:extLst>
              </a:tr>
              <a:tr h="354414">
                <a:tc>
                  <a:txBody>
                    <a:bodyPr/>
                    <a:lstStyle/>
                    <a:p>
                      <a:pPr>
                        <a:buNone/>
                      </a:pPr>
                      <a:r>
                        <a:rPr lang="en-US" sz="1200">
                          <a:latin typeface="Times New Roman" panose="02020603050405020304" pitchFamily="18" charset="0"/>
                          <a:cs typeface="Times New Roman" panose="02020603050405020304" pitchFamily="18" charset="0"/>
                        </a:rPr>
                        <a:t>🧩 </a:t>
                      </a:r>
                      <a:r>
                        <a:rPr lang="en-US" sz="1200" b="1">
                          <a:latin typeface="Times New Roman" panose="02020603050405020304" pitchFamily="18" charset="0"/>
                          <a:cs typeface="Times New Roman" panose="02020603050405020304" pitchFamily="18" charset="0"/>
                        </a:rPr>
                        <a:t>Global AQI Data (Backup)</a:t>
                      </a:r>
                      <a:endParaRPr lang="en-US" sz="1200">
                        <a:latin typeface="Times New Roman" panose="02020603050405020304" pitchFamily="18" charset="0"/>
                        <a:cs typeface="Times New Roman" panose="02020603050405020304" pitchFamily="18" charset="0"/>
                      </a:endParaRPr>
                    </a:p>
                  </a:txBody>
                  <a:tcPr marL="37782" marR="37782" marT="18891" marB="18891" anchor="ctr"/>
                </a:tc>
                <a:tc>
                  <a:txBody>
                    <a:bodyPr/>
                    <a:lstStyle/>
                    <a:p>
                      <a:pPr>
                        <a:buNone/>
                      </a:pPr>
                      <a:r>
                        <a:rPr lang="en-US" sz="1200">
                          <a:latin typeface="Times New Roman" panose="02020603050405020304" pitchFamily="18" charset="0"/>
                          <a:cs typeface="Times New Roman" panose="02020603050405020304" pitchFamily="18" charset="0"/>
                        </a:rPr>
                        <a:t>OpenAQ API – Open Air Quality Platform</a:t>
                      </a:r>
                    </a:p>
                  </a:txBody>
                  <a:tcPr marL="37782" marR="37782" marT="18891" marB="18891" anchor="ctr"/>
                </a:tc>
                <a:tc>
                  <a:txBody>
                    <a:bodyPr/>
                    <a:lstStyle/>
                    <a:p>
                      <a:pPr>
                        <a:buNone/>
                      </a:pPr>
                      <a:r>
                        <a:rPr lang="en-US" sz="1200" b="1" dirty="0">
                          <a:solidFill>
                            <a:srgbClr val="FF0000"/>
                          </a:solidFill>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https://openaq.org</a:t>
                      </a:r>
                      <a:endParaRPr lang="en-US" sz="1200" b="1" dirty="0">
                        <a:solidFill>
                          <a:srgbClr val="FF0000"/>
                        </a:solidFill>
                        <a:latin typeface="Times New Roman" panose="02020603050405020304" pitchFamily="18" charset="0"/>
                        <a:cs typeface="Times New Roman" panose="02020603050405020304" pitchFamily="18" charset="0"/>
                      </a:endParaRPr>
                    </a:p>
                  </a:txBody>
                  <a:tcPr marL="37782" marR="37782" marT="18891" marB="18891" anchor="ctr"/>
                </a:tc>
                <a:extLst>
                  <a:ext uri="{0D108BD9-81ED-4DB2-BD59-A6C34878D82A}">
                    <a16:rowId xmlns:a16="http://schemas.microsoft.com/office/drawing/2014/main" val="144185004"/>
                  </a:ext>
                </a:extLst>
              </a:tr>
            </a:tbl>
          </a:graphicData>
        </a:graphic>
      </p:graphicFrame>
      <p:sp>
        <p:nvSpPr>
          <p:cNvPr id="5" name="Slide Number Placeholder 4">
            <a:extLst>
              <a:ext uri="{FF2B5EF4-FFF2-40B4-BE49-F238E27FC236}">
                <a16:creationId xmlns:a16="http://schemas.microsoft.com/office/drawing/2014/main" id="{D924231A-C63D-46C2-A475-2E26B6B58A1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
        <p:nvSpPr>
          <p:cNvPr id="11" name="TextBox 10">
            <a:extLst>
              <a:ext uri="{FF2B5EF4-FFF2-40B4-BE49-F238E27FC236}">
                <a16:creationId xmlns:a16="http://schemas.microsoft.com/office/drawing/2014/main" id="{32706CA4-79A7-B4B0-46B8-0490E20F3B2E}"/>
              </a:ext>
            </a:extLst>
          </p:cNvPr>
          <p:cNvSpPr txBox="1"/>
          <p:nvPr/>
        </p:nvSpPr>
        <p:spPr>
          <a:xfrm>
            <a:off x="2991707" y="6025628"/>
            <a:ext cx="8617609" cy="523220"/>
          </a:xfrm>
          <a:prstGeom prst="rect">
            <a:avLst/>
          </a:prstGeom>
          <a:noFill/>
        </p:spPr>
        <p:txBody>
          <a:bodyPr wrap="square">
            <a:spAutoFit/>
          </a:bodyPr>
          <a:lstStyle/>
          <a:p>
            <a:pPr algn="ctr">
              <a:buNone/>
            </a:pPr>
            <a:r>
              <a:rPr lang="en-US" b="1" dirty="0">
                <a:latin typeface="Times New Roman" panose="02020603050405020304" pitchFamily="18" charset="0"/>
                <a:cs typeface="Times New Roman" panose="02020603050405020304" pitchFamily="18" charset="0"/>
              </a:rPr>
              <a:t>Citation Style:</a:t>
            </a:r>
            <a:r>
              <a:rPr lang="en-US" dirty="0">
                <a:latin typeface="Times New Roman" panose="02020603050405020304" pitchFamily="18" charset="0"/>
                <a:cs typeface="Times New Roman" panose="02020603050405020304" pitchFamily="18" charset="0"/>
              </a:rPr>
              <a:t> IEEE / APA-compliant formatting (for research paper integration)</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Version:</a:t>
            </a:r>
            <a:r>
              <a:rPr lang="en-US" dirty="0">
                <a:latin typeface="Times New Roman" panose="02020603050405020304" pitchFamily="18" charset="0"/>
                <a:cs typeface="Times New Roman" panose="02020603050405020304" pitchFamily="18" charset="0"/>
              </a:rPr>
              <a:t> Bibliography v1.0 </a:t>
            </a:r>
          </a:p>
        </p:txBody>
      </p:sp>
    </p:spTree>
    <p:extLst>
      <p:ext uri="{BB962C8B-B14F-4D97-AF65-F5344CB8AC3E}">
        <p14:creationId xmlns:p14="http://schemas.microsoft.com/office/powerpoint/2010/main" val="1748686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65459-4F94-101E-906B-5225DAEC03BF}"/>
              </a:ext>
            </a:extLst>
          </p:cNvPr>
          <p:cNvSpPr>
            <a:spLocks noGrp="1"/>
          </p:cNvSpPr>
          <p:nvPr>
            <p:ph type="title"/>
          </p:nvPr>
        </p:nvSpPr>
        <p:spPr>
          <a:xfrm>
            <a:off x="2635258" y="305705"/>
            <a:ext cx="8911687" cy="1280890"/>
          </a:xfrm>
        </p:spPr>
        <p:txBody>
          <a:bodyPr/>
          <a:lstStyle/>
          <a:p>
            <a:pPr algn="ctr"/>
            <a:r>
              <a:rPr lang="en-US" altLang="zh-CN" dirty="0">
                <a:solidFill>
                  <a:srgbClr val="000000"/>
                </a:solidFill>
                <a:latin typeface="Times New Roman" panose="02020603050405020304"/>
                <a:ea typeface="Times New Roman" panose="02020603050405020304"/>
              </a:rPr>
              <a:t>Final copy of Research Paper </a:t>
            </a:r>
            <a:br>
              <a:rPr lang="en-US" altLang="zh-CN" dirty="0">
                <a:solidFill>
                  <a:srgbClr val="000000"/>
                </a:solidFill>
                <a:latin typeface="Times New Roman" panose="02020603050405020304"/>
                <a:ea typeface="Times New Roman" panose="02020603050405020304"/>
              </a:rPr>
            </a:br>
            <a:endParaRPr lang="en-US" dirty="0"/>
          </a:p>
        </p:txBody>
      </p:sp>
      <p:pic>
        <p:nvPicPr>
          <p:cNvPr id="7" name="Content Placeholder 6">
            <a:extLst>
              <a:ext uri="{FF2B5EF4-FFF2-40B4-BE49-F238E27FC236}">
                <a16:creationId xmlns:a16="http://schemas.microsoft.com/office/drawing/2014/main" id="{284B327A-E338-696B-2AFD-1BFB6CB9886B}"/>
              </a:ext>
            </a:extLst>
          </p:cNvPr>
          <p:cNvPicPr>
            <a:picLocks noGrp="1" noChangeAspect="1"/>
          </p:cNvPicPr>
          <p:nvPr>
            <p:ph sz="half" idx="1"/>
          </p:nvPr>
        </p:nvPicPr>
        <p:blipFill>
          <a:blip r:embed="rId2"/>
          <a:stretch>
            <a:fillRect/>
          </a:stretch>
        </p:blipFill>
        <p:spPr>
          <a:xfrm>
            <a:off x="3424443" y="1188508"/>
            <a:ext cx="7031890" cy="4480983"/>
          </a:xfrm>
          <a:prstGeom prst="rect">
            <a:avLst/>
          </a:prstGeom>
        </p:spPr>
      </p:pic>
      <p:sp>
        <p:nvSpPr>
          <p:cNvPr id="5" name="Slide Number Placeholder 4">
            <a:extLst>
              <a:ext uri="{FF2B5EF4-FFF2-40B4-BE49-F238E27FC236}">
                <a16:creationId xmlns:a16="http://schemas.microsoft.com/office/drawing/2014/main" id="{32CF2442-5797-2BF0-8742-CBE760E6211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
        <p:nvSpPr>
          <p:cNvPr id="11" name="TextBox 10">
            <a:extLst>
              <a:ext uri="{FF2B5EF4-FFF2-40B4-BE49-F238E27FC236}">
                <a16:creationId xmlns:a16="http://schemas.microsoft.com/office/drawing/2014/main" id="{8B3687BA-DA0B-854C-E234-1E6AF5ADC71D}"/>
              </a:ext>
            </a:extLst>
          </p:cNvPr>
          <p:cNvSpPr txBox="1"/>
          <p:nvPr/>
        </p:nvSpPr>
        <p:spPr>
          <a:xfrm>
            <a:off x="2533488" y="6008364"/>
            <a:ext cx="8813800" cy="307777"/>
          </a:xfrm>
          <a:prstGeom prst="rect">
            <a:avLst/>
          </a:prstGeom>
          <a:noFill/>
        </p:spPr>
        <p:txBody>
          <a:bodyPr wrap="square">
            <a:spAutoFit/>
          </a:bodyPr>
          <a:lstStyle/>
          <a:p>
            <a:r>
              <a:rPr lang="en-US" altLang="zh-CN" dirty="0">
                <a:solidFill>
                  <a:srgbClr val="000000"/>
                </a:solidFill>
                <a:latin typeface="Times New Roman" panose="02020603050405020304"/>
                <a:ea typeface="Times New Roman" panose="02020603050405020304"/>
              </a:rPr>
              <a:t>Research Paper link </a:t>
            </a:r>
            <a:r>
              <a:rPr lang="en-US" altLang="zh-CN" dirty="0">
                <a:latin typeface="Times New Roman" panose="02020603050405020304"/>
                <a:ea typeface="Times New Roman" panose="02020603050405020304"/>
              </a:rPr>
              <a:t>: </a:t>
            </a:r>
            <a:r>
              <a:rPr lang="en-US" altLang="zh-CN" b="1" dirty="0">
                <a:solidFill>
                  <a:srgbClr val="FF0000"/>
                </a:solidFill>
                <a:latin typeface="Times New Roman" panose="02020603050405020304"/>
                <a:ea typeface="Times New Roman" panose="02020603050405020304"/>
                <a:hlinkClick r:id="rId3">
                  <a:extLst>
                    <a:ext uri="{A12FA001-AC4F-418D-AE19-62706E023703}">
                      <ahyp:hlinkClr xmlns:ahyp="http://schemas.microsoft.com/office/drawing/2018/hyperlinkcolor" val="tx"/>
                    </a:ext>
                  </a:extLst>
                </a:hlinkClick>
              </a:rPr>
              <a:t>https://drive.google.com/file/d/1uaLhwyT1dVbLdGUDsadEisyZ2833nuiq/view?usp=sharing </a:t>
            </a:r>
            <a:endParaRPr lang="en-US" b="1" dirty="0">
              <a:solidFill>
                <a:srgbClr val="FF0000"/>
              </a:solidFill>
            </a:endParaRPr>
          </a:p>
        </p:txBody>
      </p:sp>
    </p:spTree>
    <p:extLst>
      <p:ext uri="{BB962C8B-B14F-4D97-AF65-F5344CB8AC3E}">
        <p14:creationId xmlns:p14="http://schemas.microsoft.com/office/powerpoint/2010/main" val="201397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3"/>
          <p:cNvSpPr txBox="1">
            <a:spLocks noGrp="1"/>
          </p:cNvSpPr>
          <p:nvPr>
            <p:ph type="title"/>
          </p:nvPr>
        </p:nvSpPr>
        <p:spPr>
          <a:xfrm>
            <a:off x="2876716" y="145069"/>
            <a:ext cx="8229600" cy="594252"/>
          </a:xfrm>
          <a:prstGeom prst="rect">
            <a:avLst/>
          </a:prstGeom>
          <a:noFill/>
          <a:ln>
            <a:noFill/>
          </a:ln>
        </p:spPr>
        <p:txBody>
          <a:bodyPr spcFirstLastPara="1" vert="horz" wrap="square" lIns="91425" tIns="45700" rIns="91425" bIns="45700" rtlCol="0" anchor="ctr" anchorCtr="0">
            <a:noAutofit/>
          </a:bodyPr>
          <a:lstStyle/>
          <a:p>
            <a:pPr algn="ctr">
              <a:spcBef>
                <a:spcPts val="0"/>
              </a:spcBef>
              <a:buClr>
                <a:srgbClr val="FF0000"/>
              </a:buClr>
              <a:buSzPts val="3960"/>
            </a:pPr>
            <a:br>
              <a:rPr lang="en-US" sz="2460" b="1" dirty="0">
                <a:solidFill>
                  <a:srgbClr val="FF0000"/>
                </a:solidFill>
                <a:latin typeface="Arial" panose="020B0604020202020204" pitchFamily="34" charset="0"/>
                <a:ea typeface="Times New Roman" panose="02020603050405020304"/>
                <a:cs typeface="Arial" panose="020B0604020202020204" pitchFamily="34" charset="0"/>
                <a:sym typeface="Times New Roman" panose="02020603050405020304"/>
              </a:rPr>
            </a:br>
            <a:r>
              <a:rPr lang="en-US" sz="2460" b="1" dirty="0">
                <a:solidFill>
                  <a:srgbClr val="FF0000"/>
                </a:solidFill>
                <a:latin typeface="Arial" panose="020B0604020202020204" pitchFamily="34" charset="0"/>
                <a:ea typeface="Times New Roman" panose="02020603050405020304"/>
                <a:cs typeface="Arial" panose="020B0604020202020204" pitchFamily="34" charset="0"/>
                <a:sym typeface="Times New Roman" panose="02020603050405020304"/>
              </a:rPr>
              <a:t>Air Quality Monitoring and Visualizing App</a:t>
            </a:r>
            <a:endParaRPr sz="2460" dirty="0">
              <a:solidFill>
                <a:srgbClr val="FF0000"/>
              </a:solidFill>
              <a:latin typeface="Arial" panose="020B0604020202020204" pitchFamily="34" charset="0"/>
              <a:cs typeface="Arial" panose="020B0604020202020204" pitchFamily="34" charset="0"/>
            </a:endParaRPr>
          </a:p>
        </p:txBody>
      </p:sp>
      <p:sp>
        <p:nvSpPr>
          <p:cNvPr id="85" name="Google Shape;85;p3"/>
          <p:cNvSpPr txBox="1">
            <a:spLocks noGrp="1"/>
          </p:cNvSpPr>
          <p:nvPr>
            <p:ph type="body" idx="1"/>
          </p:nvPr>
        </p:nvSpPr>
        <p:spPr>
          <a:xfrm>
            <a:off x="2438400" y="840546"/>
            <a:ext cx="3717789" cy="5721301"/>
          </a:xfrm>
          <a:prstGeom prst="rect">
            <a:avLst/>
          </a:prstGeom>
          <a:noFill/>
          <a:ln>
            <a:noFill/>
          </a:ln>
        </p:spPr>
        <p:txBody>
          <a:bodyPr spcFirstLastPara="1" vert="horz" wrap="square" lIns="91425" tIns="45700" rIns="91425" bIns="45700" rtlCol="0" anchor="t" anchorCtr="0">
            <a:normAutofit fontScale="25000" lnSpcReduction="20000"/>
          </a:bodyPr>
          <a:lstStyle/>
          <a:p>
            <a:pPr indent="-298450" algn="just">
              <a:spcBef>
                <a:spcPts val="0"/>
              </a:spcBef>
              <a:buClr>
                <a:schemeClr val="dk1"/>
              </a:buClr>
              <a:buSzPct val="100000"/>
              <a:buNone/>
            </a:pPr>
            <a:endParaRPr dirty="0">
              <a:latin typeface="Arial" panose="020B0604020202020204" pitchFamily="34" charset="0"/>
              <a:cs typeface="Arial" panose="020B0604020202020204" pitchFamily="34" charset="0"/>
            </a:endParaRPr>
          </a:p>
          <a:p>
            <a:pPr marL="0" indent="0" algn="just">
              <a:spcBef>
                <a:spcPts val="320"/>
              </a:spcBef>
              <a:buClr>
                <a:schemeClr val="dk1"/>
              </a:buClr>
              <a:buSzPct val="100000"/>
              <a:buNone/>
            </a:pPr>
            <a:r>
              <a:rPr lang="en-US" sz="6400" b="1" u="sng" dirty="0">
                <a:latin typeface="Arial" panose="020B0604020202020204" pitchFamily="34" charset="0"/>
                <a:cs typeface="Arial" panose="020B0604020202020204" pitchFamily="34" charset="0"/>
              </a:rPr>
              <a:t>Project Abstract</a:t>
            </a:r>
            <a:endParaRPr lang="en-US" sz="5600" dirty="0">
              <a:latin typeface="Arial" panose="020B0604020202020204" pitchFamily="34" charset="0"/>
              <a:cs typeface="Arial" panose="020B0604020202020204" pitchFamily="34" charset="0"/>
            </a:endParaRPr>
          </a:p>
          <a:p>
            <a:pPr marL="0" indent="0" algn="just">
              <a:spcBef>
                <a:spcPts val="280"/>
              </a:spcBef>
              <a:buClr>
                <a:schemeClr val="dk1"/>
              </a:buClr>
              <a:buSzPct val="100000"/>
              <a:buNone/>
            </a:pPr>
            <a:r>
              <a:rPr lang="en-US" sz="6000" dirty="0">
                <a:latin typeface="Arial" panose="020B0604020202020204" pitchFamily="34" charset="0"/>
                <a:cs typeface="Arial" panose="020B0604020202020204" pitchFamily="34" charset="0"/>
              </a:rPr>
              <a:t>Air pollution poses significant health risks, particularly in regions with limited monitoring infrastructure. We will build an integrated system combining data from government sensors, ISRO VEDAS satellites, and public platforms to offer real-time air quality visualization and forecasting. Using machine learning, we will predict pollution levels for the next 24–72 hours and send personalized health advisories via a mobile/web app. This system addresses current limitations by providing comprehensive, timely, and accessible air quality information, promoting healthier environments and informed decision-making.</a:t>
            </a:r>
          </a:p>
          <a:p>
            <a:pPr marL="0" indent="0" algn="just">
              <a:spcBef>
                <a:spcPts val="280"/>
              </a:spcBef>
              <a:buClr>
                <a:schemeClr val="dk1"/>
              </a:buClr>
              <a:buSzPct val="100000"/>
              <a:buNone/>
            </a:pPr>
            <a:endParaRPr lang="en-US" sz="6000" dirty="0">
              <a:latin typeface="Arial" panose="020B0604020202020204" pitchFamily="34" charset="0"/>
              <a:cs typeface="Arial" panose="020B0604020202020204" pitchFamily="34" charset="0"/>
            </a:endParaRPr>
          </a:p>
          <a:p>
            <a:pPr marL="0" indent="0" algn="just">
              <a:spcBef>
                <a:spcPts val="280"/>
              </a:spcBef>
              <a:buClr>
                <a:schemeClr val="dk1"/>
              </a:buClr>
              <a:buSzPct val="100000"/>
              <a:buNone/>
            </a:pPr>
            <a:r>
              <a:rPr lang="en-US" sz="5400" b="1" u="sng" dirty="0">
                <a:latin typeface="Arial" panose="020B0604020202020204" pitchFamily="34" charset="0"/>
                <a:cs typeface="Arial" panose="020B0604020202020204" pitchFamily="34" charset="0"/>
              </a:rPr>
              <a:t>App Prototype Link:</a:t>
            </a:r>
          </a:p>
          <a:p>
            <a:pPr marL="0" indent="0" algn="just">
              <a:spcBef>
                <a:spcPts val="280"/>
              </a:spcBef>
              <a:buClr>
                <a:schemeClr val="dk1"/>
              </a:buClr>
              <a:buSzPct val="100000"/>
              <a:buNone/>
            </a:pPr>
            <a:endParaRPr lang="en-US" sz="5400" b="1" u="sng" dirty="0">
              <a:latin typeface="Arial" panose="020B0604020202020204" pitchFamily="34" charset="0"/>
              <a:cs typeface="Arial" panose="020B0604020202020204" pitchFamily="34" charset="0"/>
            </a:endParaRPr>
          </a:p>
          <a:p>
            <a:pPr marL="0" indent="0" algn="just">
              <a:spcBef>
                <a:spcPts val="280"/>
              </a:spcBef>
              <a:buClr>
                <a:schemeClr val="dk1"/>
              </a:buClr>
              <a:buSzPct val="100000"/>
              <a:buNone/>
            </a:pPr>
            <a:endParaRPr lang="en-US" sz="5400" b="1" u="sng" dirty="0">
              <a:latin typeface="Arial" panose="020B0604020202020204" pitchFamily="34" charset="0"/>
              <a:cs typeface="Arial" panose="020B0604020202020204" pitchFamily="34" charset="0"/>
            </a:endParaRPr>
          </a:p>
          <a:p>
            <a:pPr marL="0" indent="0" algn="just">
              <a:spcBef>
                <a:spcPts val="280"/>
              </a:spcBef>
              <a:buClr>
                <a:schemeClr val="dk1"/>
              </a:buClr>
              <a:buSzPct val="100000"/>
              <a:buNone/>
            </a:pPr>
            <a:endParaRPr lang="en-US" sz="5400" b="1" u="sng" dirty="0">
              <a:latin typeface="Arial" panose="020B0604020202020204" pitchFamily="34" charset="0"/>
              <a:cs typeface="Arial" panose="020B0604020202020204" pitchFamily="34" charset="0"/>
            </a:endParaRPr>
          </a:p>
          <a:p>
            <a:pPr marL="0" indent="0" algn="just">
              <a:spcBef>
                <a:spcPts val="280"/>
              </a:spcBef>
              <a:buClr>
                <a:schemeClr val="dk1"/>
              </a:buClr>
              <a:buSzPct val="100000"/>
              <a:buNone/>
            </a:pPr>
            <a:endParaRPr lang="en-US" sz="5400" b="1" u="sng" dirty="0">
              <a:latin typeface="Arial" panose="020B0604020202020204" pitchFamily="34" charset="0"/>
              <a:cs typeface="Arial" panose="020B0604020202020204" pitchFamily="34" charset="0"/>
            </a:endParaRPr>
          </a:p>
          <a:p>
            <a:pPr marL="0" indent="0" algn="just">
              <a:spcBef>
                <a:spcPts val="280"/>
              </a:spcBef>
              <a:buClr>
                <a:schemeClr val="dk1"/>
              </a:buClr>
              <a:buSzPct val="100000"/>
              <a:buNone/>
            </a:pPr>
            <a:r>
              <a:rPr lang="en-US" sz="5400" b="1" u="sng" dirty="0">
                <a:latin typeface="Arial" panose="020B0604020202020204" pitchFamily="34" charset="0"/>
                <a:cs typeface="Arial" panose="020B0604020202020204" pitchFamily="34" charset="0"/>
              </a:rPr>
              <a:t>% of the work done and pending is:</a:t>
            </a:r>
          </a:p>
          <a:p>
            <a:pPr marL="0" indent="0" algn="just">
              <a:spcBef>
                <a:spcPts val="280"/>
              </a:spcBef>
              <a:buClr>
                <a:schemeClr val="dk1"/>
              </a:buClr>
              <a:buSzPct val="100000"/>
              <a:buNone/>
            </a:pPr>
            <a:endParaRPr lang="en-US" sz="5400" b="1" u="sng" dirty="0">
              <a:latin typeface="Arial" panose="020B0604020202020204" pitchFamily="34" charset="0"/>
              <a:cs typeface="Arial" panose="020B0604020202020204" pitchFamily="34" charset="0"/>
            </a:endParaRPr>
          </a:p>
          <a:p>
            <a:pPr algn="just">
              <a:spcBef>
                <a:spcPts val="280"/>
              </a:spcBef>
              <a:buClr>
                <a:schemeClr val="dk1"/>
              </a:buClr>
              <a:buSzPct val="100000"/>
            </a:pPr>
            <a:r>
              <a:rPr lang="en-US" sz="5400" dirty="0">
                <a:latin typeface="Arial" panose="020B0604020202020204" pitchFamily="34" charset="0"/>
                <a:cs typeface="Arial" panose="020B0604020202020204" pitchFamily="34" charset="0"/>
              </a:rPr>
              <a:t>Pending Work : 40 % </a:t>
            </a:r>
          </a:p>
          <a:p>
            <a:pPr algn="just">
              <a:spcBef>
                <a:spcPts val="280"/>
              </a:spcBef>
              <a:buClr>
                <a:schemeClr val="dk1"/>
              </a:buClr>
              <a:buSzPct val="100000"/>
            </a:pPr>
            <a:r>
              <a:rPr lang="en-US" sz="5400" dirty="0">
                <a:latin typeface="Arial" panose="020B0604020202020204" pitchFamily="34" charset="0"/>
                <a:cs typeface="Arial" panose="020B0604020202020204" pitchFamily="34" charset="0"/>
              </a:rPr>
              <a:t>Completed work: 60 %</a:t>
            </a:r>
          </a:p>
          <a:p>
            <a:pPr marL="0" indent="0" algn="just">
              <a:spcBef>
                <a:spcPts val="280"/>
              </a:spcBef>
              <a:buClr>
                <a:schemeClr val="dk1"/>
              </a:buClr>
              <a:buSzPct val="100000"/>
              <a:buNone/>
            </a:pPr>
            <a:endParaRPr lang="en-US" sz="5400" b="1" u="sng" dirty="0">
              <a:latin typeface="Arial" panose="020B0604020202020204" pitchFamily="34" charset="0"/>
              <a:cs typeface="Arial" panose="020B0604020202020204" pitchFamily="34" charset="0"/>
            </a:endParaRPr>
          </a:p>
          <a:p>
            <a:pPr marL="0" indent="0" algn="just">
              <a:spcBef>
                <a:spcPts val="280"/>
              </a:spcBef>
              <a:buClr>
                <a:schemeClr val="dk1"/>
              </a:buClr>
              <a:buSzPct val="100000"/>
              <a:buNone/>
            </a:pPr>
            <a:endParaRPr lang="en-US" sz="6000" dirty="0">
              <a:latin typeface="Arial" panose="020B0604020202020204" pitchFamily="34" charset="0"/>
              <a:cs typeface="Arial" panose="020B0604020202020204" pitchFamily="34" charset="0"/>
            </a:endParaRPr>
          </a:p>
          <a:p>
            <a:pPr marL="0" indent="0" algn="just">
              <a:spcBef>
                <a:spcPts val="280"/>
              </a:spcBef>
              <a:buClr>
                <a:schemeClr val="dk1"/>
              </a:buClr>
              <a:buSzPct val="100000"/>
              <a:buNone/>
            </a:pPr>
            <a:endParaRPr lang="en-US" sz="6000" dirty="0">
              <a:latin typeface="Arial" panose="020B0604020202020204" pitchFamily="34" charset="0"/>
              <a:cs typeface="Arial" panose="020B0604020202020204" pitchFamily="34" charset="0"/>
            </a:endParaRPr>
          </a:p>
          <a:p>
            <a:pPr marL="0" indent="0" algn="just">
              <a:spcBef>
                <a:spcPts val="280"/>
              </a:spcBef>
              <a:buClr>
                <a:schemeClr val="dk1"/>
              </a:buClr>
              <a:buSzPct val="100000"/>
              <a:buNone/>
            </a:pPr>
            <a:endParaRPr sz="5600" dirty="0">
              <a:latin typeface="Arial" panose="020B0604020202020204" pitchFamily="34" charset="0"/>
              <a:cs typeface="Arial" panose="020B0604020202020204" pitchFamily="34" charset="0"/>
            </a:endParaRPr>
          </a:p>
          <a:p>
            <a:pPr marL="0" indent="0" algn="just">
              <a:spcBef>
                <a:spcPts val="280"/>
              </a:spcBef>
              <a:buClr>
                <a:schemeClr val="dk1"/>
              </a:buClr>
              <a:buSzPct val="100000"/>
              <a:buNone/>
            </a:pPr>
            <a:endParaRPr sz="5600" b="1" u="sng" dirty="0">
              <a:latin typeface="Arial" panose="020B0604020202020204" pitchFamily="34" charset="0"/>
              <a:cs typeface="Arial" panose="020B0604020202020204" pitchFamily="34" charset="0"/>
            </a:endParaRPr>
          </a:p>
          <a:p>
            <a:pPr marL="0" indent="0" algn="just">
              <a:spcBef>
                <a:spcPts val="280"/>
              </a:spcBef>
              <a:buClr>
                <a:schemeClr val="dk1"/>
              </a:buClr>
              <a:buSzPct val="100000"/>
              <a:buNone/>
            </a:pPr>
            <a:endParaRPr sz="5600" b="1" u="sng" dirty="0">
              <a:latin typeface="Arial" panose="020B0604020202020204" pitchFamily="34" charset="0"/>
              <a:cs typeface="Arial" panose="020B0604020202020204" pitchFamily="34" charset="0"/>
            </a:endParaRPr>
          </a:p>
          <a:p>
            <a:pPr marL="0" indent="0" algn="just">
              <a:spcBef>
                <a:spcPts val="280"/>
              </a:spcBef>
              <a:buClr>
                <a:schemeClr val="dk1"/>
              </a:buClr>
              <a:buSzPct val="100000"/>
              <a:buNone/>
            </a:pPr>
            <a:endParaRPr sz="5600" b="1" u="sng" dirty="0">
              <a:latin typeface="Arial" panose="020B0604020202020204" pitchFamily="34" charset="0"/>
              <a:cs typeface="Arial" panose="020B0604020202020204" pitchFamily="34" charset="0"/>
            </a:endParaRPr>
          </a:p>
          <a:p>
            <a:pPr marL="0" indent="0" algn="just">
              <a:spcBef>
                <a:spcPts val="300"/>
              </a:spcBef>
              <a:buNone/>
            </a:pPr>
            <a:endParaRPr lang="en-US" sz="6000" b="1" u="sng" dirty="0">
              <a:latin typeface="Arial" panose="020B0604020202020204" pitchFamily="34" charset="0"/>
              <a:cs typeface="Arial" panose="020B0604020202020204" pitchFamily="34" charset="0"/>
            </a:endParaRPr>
          </a:p>
          <a:p>
            <a:pPr marL="0" indent="0" algn="just">
              <a:spcBef>
                <a:spcPts val="300"/>
              </a:spcBef>
              <a:buNone/>
            </a:pPr>
            <a:endParaRPr lang="en-US" sz="6000" b="1" u="sng" dirty="0">
              <a:latin typeface="Arial" panose="020B0604020202020204" pitchFamily="34" charset="0"/>
              <a:cs typeface="Arial" panose="020B0604020202020204" pitchFamily="34" charset="0"/>
            </a:endParaRPr>
          </a:p>
          <a:p>
            <a:pPr marL="0" indent="0" algn="just">
              <a:spcBef>
                <a:spcPts val="280"/>
              </a:spcBef>
              <a:buClr>
                <a:schemeClr val="dk1"/>
              </a:buClr>
              <a:buSzPct val="100000"/>
              <a:buNone/>
            </a:pPr>
            <a:endParaRPr sz="5600" dirty="0">
              <a:latin typeface="Arial" panose="020B0604020202020204" pitchFamily="34" charset="0"/>
              <a:cs typeface="Arial" panose="020B0604020202020204" pitchFamily="34" charset="0"/>
            </a:endParaRPr>
          </a:p>
        </p:txBody>
      </p:sp>
      <p:sp>
        <p:nvSpPr>
          <p:cNvPr id="88" name="Google Shape;88;p3"/>
          <p:cNvSpPr txBox="1"/>
          <p:nvPr/>
        </p:nvSpPr>
        <p:spPr>
          <a:xfrm>
            <a:off x="6424250" y="3782461"/>
            <a:ext cx="2607300" cy="381000"/>
          </a:xfrm>
          <a:prstGeom prst="rect">
            <a:avLst/>
          </a:prstGeom>
          <a:noFill/>
          <a:ln>
            <a:noFill/>
          </a:ln>
        </p:spPr>
        <p:txBody>
          <a:bodyPr spcFirstLastPara="1" wrap="square" lIns="91425" tIns="45700" rIns="91425" bIns="45700" anchor="t" anchorCtr="0">
            <a:noAutofit/>
          </a:bodyPr>
          <a:lstStyle/>
          <a:p>
            <a:pPr algn="ctr">
              <a:lnSpc>
                <a:spcPct val="80000"/>
              </a:lnSpc>
              <a:buClr>
                <a:schemeClr val="dk1"/>
              </a:buClr>
              <a:buSzPts val="1200"/>
            </a:pPr>
            <a:r>
              <a:rPr lang="en-US" sz="1800" b="1" dirty="0">
                <a:solidFill>
                  <a:schemeClr val="dk1"/>
                </a:solidFill>
                <a:latin typeface="Calibri" panose="020F0502020204030204"/>
                <a:ea typeface="Calibri" panose="020F0502020204030204"/>
                <a:cs typeface="Calibri" panose="020F0502020204030204"/>
                <a:sym typeface="Calibri" panose="020F0502020204030204"/>
              </a:rPr>
              <a:t>Project Model</a:t>
            </a:r>
            <a:endParaRPr sz="2000" b="1" dirty="0">
              <a:solidFill>
                <a:schemeClr val="dk1"/>
              </a:solidFill>
              <a:latin typeface="Calibri" panose="020F0502020204030204"/>
              <a:ea typeface="Calibri" panose="020F0502020204030204"/>
              <a:cs typeface="Calibri" panose="020F0502020204030204"/>
              <a:sym typeface="Calibri" panose="020F0502020204030204"/>
            </a:endParaRPr>
          </a:p>
          <a:p>
            <a:pPr algn="just">
              <a:lnSpc>
                <a:spcPct val="80000"/>
              </a:lnSpc>
              <a:spcBef>
                <a:spcPts val="530"/>
              </a:spcBef>
              <a:buClr>
                <a:schemeClr val="dk1"/>
              </a:buClr>
              <a:buSzPts val="1400"/>
            </a:pPr>
            <a:endParaRPr sz="2000" dirty="0">
              <a:solidFill>
                <a:schemeClr val="dk1"/>
              </a:solidFill>
              <a:latin typeface="Calibri" panose="020F0502020204030204"/>
              <a:ea typeface="Calibri" panose="020F0502020204030204"/>
              <a:cs typeface="Calibri" panose="020F0502020204030204"/>
              <a:sym typeface="Calibri" panose="020F0502020204030204"/>
            </a:endParaRPr>
          </a:p>
          <a:p>
            <a:pPr algn="just">
              <a:lnSpc>
                <a:spcPct val="80000"/>
              </a:lnSpc>
              <a:spcBef>
                <a:spcPts val="570"/>
              </a:spcBef>
              <a:buClr>
                <a:schemeClr val="dk1"/>
              </a:buClr>
              <a:buSzPts val="1500"/>
            </a:pPr>
            <a:endParaRPr sz="1500" b="1" u="sng"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0" name="Google Shape;90;p3"/>
          <p:cNvSpPr txBox="1"/>
          <p:nvPr/>
        </p:nvSpPr>
        <p:spPr>
          <a:xfrm>
            <a:off x="9216386" y="3800464"/>
            <a:ext cx="2259325" cy="381000"/>
          </a:xfrm>
          <a:prstGeom prst="rect">
            <a:avLst/>
          </a:prstGeom>
          <a:noFill/>
          <a:ln>
            <a:noFill/>
          </a:ln>
        </p:spPr>
        <p:txBody>
          <a:bodyPr spcFirstLastPara="1" wrap="square" lIns="91425" tIns="45700" rIns="91425" bIns="45700" anchor="t" anchorCtr="0">
            <a:noAutofit/>
          </a:bodyPr>
          <a:lstStyle/>
          <a:p>
            <a:pPr>
              <a:lnSpc>
                <a:spcPct val="80000"/>
              </a:lnSpc>
              <a:buClr>
                <a:schemeClr val="dk1"/>
              </a:buClr>
              <a:buSzPts val="1200"/>
            </a:pPr>
            <a:r>
              <a:rPr lang="en-US" sz="1800" b="1" dirty="0">
                <a:solidFill>
                  <a:schemeClr val="dk1"/>
                </a:solidFill>
                <a:latin typeface="Calibri" panose="020F0502020204030204"/>
                <a:ea typeface="Calibri" panose="020F0502020204030204"/>
                <a:cs typeface="Calibri" panose="020F0502020204030204"/>
                <a:sym typeface="Calibri" panose="020F0502020204030204"/>
              </a:rPr>
              <a:t>Project flow diagram</a:t>
            </a:r>
            <a:endParaRPr sz="2000" b="1" dirty="0">
              <a:solidFill>
                <a:schemeClr val="dk1"/>
              </a:solidFill>
              <a:latin typeface="Calibri" panose="020F0502020204030204"/>
              <a:ea typeface="Calibri" panose="020F0502020204030204"/>
              <a:cs typeface="Calibri" panose="020F0502020204030204"/>
              <a:sym typeface="Calibri" panose="020F0502020204030204"/>
            </a:endParaRPr>
          </a:p>
          <a:p>
            <a:pPr algn="just">
              <a:lnSpc>
                <a:spcPct val="80000"/>
              </a:lnSpc>
              <a:spcBef>
                <a:spcPts val="530"/>
              </a:spcBef>
              <a:buClr>
                <a:schemeClr val="dk1"/>
              </a:buClr>
              <a:buSzPts val="1400"/>
            </a:pPr>
            <a:endParaRPr sz="2000" dirty="0">
              <a:solidFill>
                <a:schemeClr val="dk1"/>
              </a:solidFill>
              <a:latin typeface="Calibri" panose="020F0502020204030204"/>
              <a:ea typeface="Calibri" panose="020F0502020204030204"/>
              <a:cs typeface="Calibri" panose="020F0502020204030204"/>
              <a:sym typeface="Calibri" panose="020F0502020204030204"/>
            </a:endParaRPr>
          </a:p>
          <a:p>
            <a:pPr algn="just">
              <a:lnSpc>
                <a:spcPct val="80000"/>
              </a:lnSpc>
              <a:spcBef>
                <a:spcPts val="570"/>
              </a:spcBef>
              <a:buClr>
                <a:schemeClr val="dk1"/>
              </a:buClr>
              <a:buSzPts val="1500"/>
            </a:pPr>
            <a:endParaRPr sz="1500" b="1" u="sng"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1" name="Google Shape;91;p3"/>
          <p:cNvSpPr txBox="1"/>
          <p:nvPr/>
        </p:nvSpPr>
        <p:spPr>
          <a:xfrm>
            <a:off x="8085883" y="6485135"/>
            <a:ext cx="2607300" cy="153424"/>
          </a:xfrm>
          <a:prstGeom prst="rect">
            <a:avLst/>
          </a:prstGeom>
          <a:noFill/>
          <a:ln>
            <a:noFill/>
          </a:ln>
        </p:spPr>
        <p:txBody>
          <a:bodyPr spcFirstLastPara="1" wrap="square" lIns="91425" tIns="45700" rIns="91425" bIns="45700" anchor="t" anchorCtr="0">
            <a:noAutofit/>
          </a:bodyPr>
          <a:lstStyle/>
          <a:p>
            <a:pPr algn="ctr">
              <a:lnSpc>
                <a:spcPct val="80000"/>
              </a:lnSpc>
              <a:buClr>
                <a:schemeClr val="dk1"/>
              </a:buClr>
              <a:buSzPts val="1200"/>
            </a:pPr>
            <a:r>
              <a:rPr lang="en-US" sz="1800" b="1" dirty="0">
                <a:solidFill>
                  <a:schemeClr val="dk1"/>
                </a:solidFill>
                <a:latin typeface="Calibri" panose="020F0502020204030204"/>
                <a:ea typeface="Calibri" panose="020F0502020204030204"/>
                <a:cs typeface="Calibri" panose="020F0502020204030204"/>
                <a:sym typeface="Calibri" panose="020F0502020204030204"/>
              </a:rPr>
              <a:t>Architecture diagram</a:t>
            </a:r>
            <a:endParaRPr sz="2000" b="1" dirty="0">
              <a:solidFill>
                <a:schemeClr val="dk1"/>
              </a:solidFill>
              <a:latin typeface="Calibri" panose="020F0502020204030204"/>
              <a:ea typeface="Calibri" panose="020F0502020204030204"/>
              <a:cs typeface="Calibri" panose="020F0502020204030204"/>
              <a:sym typeface="Calibri" panose="020F0502020204030204"/>
            </a:endParaRPr>
          </a:p>
          <a:p>
            <a:pPr algn="just">
              <a:lnSpc>
                <a:spcPct val="80000"/>
              </a:lnSpc>
              <a:spcBef>
                <a:spcPts val="530"/>
              </a:spcBef>
              <a:buClr>
                <a:schemeClr val="dk1"/>
              </a:buClr>
              <a:buSzPts val="1400"/>
            </a:pPr>
            <a:endParaRPr sz="2000" dirty="0">
              <a:solidFill>
                <a:schemeClr val="dk1"/>
              </a:solidFill>
              <a:latin typeface="Calibri" panose="020F0502020204030204"/>
              <a:ea typeface="Calibri" panose="020F0502020204030204"/>
              <a:cs typeface="Calibri" panose="020F0502020204030204"/>
              <a:sym typeface="Calibri" panose="020F0502020204030204"/>
            </a:endParaRPr>
          </a:p>
          <a:p>
            <a:pPr algn="just">
              <a:lnSpc>
                <a:spcPct val="80000"/>
              </a:lnSpc>
              <a:spcBef>
                <a:spcPts val="570"/>
              </a:spcBef>
              <a:buClr>
                <a:schemeClr val="dk1"/>
              </a:buClr>
              <a:buSzPts val="1500"/>
            </a:pPr>
            <a:endParaRPr sz="1500" b="1" u="sng"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4" name="TextBox 3"/>
          <p:cNvSpPr txBox="1"/>
          <p:nvPr/>
        </p:nvSpPr>
        <p:spPr>
          <a:xfrm>
            <a:off x="1937360" y="3068878"/>
            <a:ext cx="184731" cy="307777"/>
          </a:xfrm>
          <a:prstGeom prst="rect">
            <a:avLst/>
          </a:prstGeom>
          <a:noFill/>
        </p:spPr>
        <p:txBody>
          <a:bodyPr wrap="none" rtlCol="0">
            <a:spAutoFit/>
          </a:bodyPr>
          <a:lstStyle/>
          <a:p>
            <a:endParaRPr lang="en-IN"/>
          </a:p>
        </p:txBody>
      </p:sp>
      <p:pic>
        <p:nvPicPr>
          <p:cNvPr id="3" name="Picture 2" descr="A diagram of a company&#10;&#10;AI-generated content may be incorrect.">
            <a:extLst>
              <a:ext uri="{FF2B5EF4-FFF2-40B4-BE49-F238E27FC236}">
                <a16:creationId xmlns:a16="http://schemas.microsoft.com/office/drawing/2014/main" id="{E2277466-1BB9-EE66-98D0-6900D2B5B405}"/>
              </a:ext>
            </a:extLst>
          </p:cNvPr>
          <p:cNvPicPr>
            <a:picLocks noChangeAspect="1"/>
          </p:cNvPicPr>
          <p:nvPr/>
        </p:nvPicPr>
        <p:blipFill>
          <a:blip r:embed="rId3"/>
          <a:stretch>
            <a:fillRect/>
          </a:stretch>
        </p:blipFill>
        <p:spPr>
          <a:xfrm>
            <a:off x="8776602" y="1108749"/>
            <a:ext cx="3293534" cy="2529108"/>
          </a:xfrm>
          <a:prstGeom prst="rect">
            <a:avLst/>
          </a:prstGeom>
        </p:spPr>
      </p:pic>
      <p:pic>
        <p:nvPicPr>
          <p:cNvPr id="7" name="Picture 6" descr="A diagram of a diagram&#10;&#10;AI-generated content may be incorrect.">
            <a:extLst>
              <a:ext uri="{FF2B5EF4-FFF2-40B4-BE49-F238E27FC236}">
                <a16:creationId xmlns:a16="http://schemas.microsoft.com/office/drawing/2014/main" id="{C28C69B9-7350-BB40-96E6-0C1C5BD8DCF0}"/>
              </a:ext>
            </a:extLst>
          </p:cNvPr>
          <p:cNvPicPr>
            <a:picLocks noChangeAspect="1"/>
          </p:cNvPicPr>
          <p:nvPr/>
        </p:nvPicPr>
        <p:blipFill>
          <a:blip r:embed="rId4"/>
          <a:stretch>
            <a:fillRect/>
          </a:stretch>
        </p:blipFill>
        <p:spPr>
          <a:xfrm>
            <a:off x="6472498" y="4125678"/>
            <a:ext cx="5445681" cy="2303671"/>
          </a:xfrm>
          <a:prstGeom prst="rect">
            <a:avLst/>
          </a:prstGeom>
        </p:spPr>
      </p:pic>
      <p:pic>
        <p:nvPicPr>
          <p:cNvPr id="9" name="Picture 8" descr="A screenshot of a cell phone&#10;&#10;AI-generated content may be incorrect.">
            <a:extLst>
              <a:ext uri="{FF2B5EF4-FFF2-40B4-BE49-F238E27FC236}">
                <a16:creationId xmlns:a16="http://schemas.microsoft.com/office/drawing/2014/main" id="{900592BB-8577-0286-919C-ACC768C85884}"/>
              </a:ext>
            </a:extLst>
          </p:cNvPr>
          <p:cNvPicPr>
            <a:picLocks noChangeAspect="1"/>
          </p:cNvPicPr>
          <p:nvPr/>
        </p:nvPicPr>
        <p:blipFill>
          <a:blip r:embed="rId5"/>
          <a:stretch>
            <a:fillRect/>
          </a:stretch>
        </p:blipFill>
        <p:spPr>
          <a:xfrm>
            <a:off x="6248607" y="1133054"/>
            <a:ext cx="2435577" cy="2529108"/>
          </a:xfrm>
          <a:prstGeom prst="rect">
            <a:avLst/>
          </a:prstGeom>
        </p:spPr>
      </p:pic>
      <p:sp>
        <p:nvSpPr>
          <p:cNvPr id="2" name="TextBox 1">
            <a:extLst>
              <a:ext uri="{FF2B5EF4-FFF2-40B4-BE49-F238E27FC236}">
                <a16:creationId xmlns:a16="http://schemas.microsoft.com/office/drawing/2014/main" id="{31D64145-4D7A-9C31-2DCE-F9C1B7B46E36}"/>
              </a:ext>
            </a:extLst>
          </p:cNvPr>
          <p:cNvSpPr txBox="1"/>
          <p:nvPr/>
        </p:nvSpPr>
        <p:spPr>
          <a:xfrm>
            <a:off x="2438400" y="4754293"/>
            <a:ext cx="4504267" cy="461665"/>
          </a:xfrm>
          <a:prstGeom prst="rect">
            <a:avLst/>
          </a:prstGeom>
          <a:noFill/>
        </p:spPr>
        <p:txBody>
          <a:bodyPr wrap="square">
            <a:spAutoFit/>
          </a:bodyPr>
          <a:lstStyle/>
          <a:p>
            <a:r>
              <a:rPr lang="en-US" sz="1200" b="1" u="sng" dirty="0">
                <a:solidFill>
                  <a:srgbClr val="FF0000"/>
                </a:solidFill>
              </a:rPr>
              <a:t>https://drive.google.com/file/d/1gopfI6bJf8Bnt-H8LunpW0uFLr9zheg/view?usp=drive_link</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744*353"/>
  <p:tag name="TABLE_ENDDRAG_RECT" val="81*80*744*353"/>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15*327"/>
  <p:tag name="TABLE_ENDDRAG_RECT" val="90*105*815*327"/>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813*329"/>
  <p:tag name="TABLE_ENDDRAG_RECT" val="119*83*813*329"/>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777*389"/>
  <p:tag name="TABLE_ENDDRAG_RECT" val="156*62*777*389"/>
</p:tagLst>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380</TotalTime>
  <Words>2234</Words>
  <Application>Microsoft Office PowerPoint</Application>
  <PresentationFormat>Widescreen</PresentationFormat>
  <Paragraphs>298</Paragraphs>
  <Slides>27</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Wingdings 3</vt:lpstr>
      <vt:lpstr>Century Gothic</vt:lpstr>
      <vt:lpstr>Arial Bold</vt:lpstr>
      <vt:lpstr>Times New Roman</vt:lpstr>
      <vt:lpstr>Calibri</vt:lpstr>
      <vt:lpstr>Arial</vt:lpstr>
      <vt:lpstr>Wisp</vt:lpstr>
      <vt:lpstr>PowerPoint Presentation</vt:lpstr>
      <vt:lpstr>                                   Contents</vt:lpstr>
      <vt:lpstr>PROGRESS REPORT-I</vt:lpstr>
      <vt:lpstr>PowerPoint Presentation</vt:lpstr>
      <vt:lpstr>Software Requirement, Tools, Human Efforts in Hours </vt:lpstr>
      <vt:lpstr>System Overview, Proposed System and Expected outcome </vt:lpstr>
      <vt:lpstr>Title of Research Paper, Literature Review, Research Gap </vt:lpstr>
      <vt:lpstr>PROGRESS REPORT-II</vt:lpstr>
      <vt:lpstr>PowerPoint Presentation</vt:lpstr>
      <vt:lpstr>ERD &amp; State Transistion Diagram (As Per Problem statement) </vt:lpstr>
      <vt:lpstr>Database Design with proper key definition </vt:lpstr>
      <vt:lpstr>Data Dictionary, Flow chart </vt:lpstr>
      <vt:lpstr>Project Plan </vt:lpstr>
      <vt:lpstr>Synopsis of Research Project and Paper  </vt:lpstr>
      <vt:lpstr>PROGRESS REPORT-III</vt:lpstr>
      <vt:lpstr>PowerPoint Presentation</vt:lpstr>
      <vt:lpstr>Requirement Analysis / Models   </vt:lpstr>
      <vt:lpstr>Screen Design with proper validations, Reports-Analytical &amp; graphical </vt:lpstr>
      <vt:lpstr>3-4 Working Models, Publish Research Paper </vt:lpstr>
      <vt:lpstr>30 – 40% Coding documentation </vt:lpstr>
      <vt:lpstr>PowerPoint Presentation</vt:lpstr>
      <vt:lpstr>PROGRESS REPORT-IV</vt:lpstr>
      <vt:lpstr>Test Data (screenshot)</vt:lpstr>
      <vt:lpstr>User Manual </vt:lpstr>
      <vt:lpstr>Bibliography, References </vt:lpstr>
      <vt:lpstr>Final copy of Research Paper  </vt:lpstr>
      <vt:lpstr> Air Quality Monitoring and Visualizing App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Abhay Akarte</dc:creator>
  <cp:lastModifiedBy>Gurjas Gandhi (BMCC Student)</cp:lastModifiedBy>
  <cp:revision>45</cp:revision>
  <dcterms:created xsi:type="dcterms:W3CDTF">2025-09-17T08:26:00Z</dcterms:created>
  <dcterms:modified xsi:type="dcterms:W3CDTF">2025-11-13T00:21:53Z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D94CF5297ADF4A11AED382E9B988DB5C_13</vt:lpwstr>
  </property>
  <property fmtid="{D5CDD505-2E9C-101B-9397-08002B2CF9AE}" pid="3" name="KSOProductBuildVer">
    <vt:lpwstr>1033-12.2.0.22549</vt:lpwstr>
  </property>
</Properties>
</file>